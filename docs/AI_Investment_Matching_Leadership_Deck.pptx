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Pairings</c:v>
                </c:pt>
              </c:strCache>
            </c:strRef>
          </c:tx>
          <c:spPr>
            <a:solidFill>
              <a:srgbClr val="02714E"/>
            </a:solidFill>
            <a:effectLst/>
          </c:spPr>
          <c:invertIfNegative val="0"/>
          <c:dLbls>
            <c:numFmt formatCode="#,##0" sourceLinked="0"/>
            <c:txPr>
              <a:bodyPr/>
              <a:lstStyle/>
              <a:p>
                <a:pPr>
                  <a:defRPr b="0" i="0" strike="noStrike" sz="1100" u="none">
                    <a:solidFill>
                      <a:srgbClr val="1C2B25"/>
                    </a:solidFill>
                    <a:latin typeface="Calibri"/>
                  </a:defRPr>
                </a:pPr>
              </a:p>
            </c:txPr>
            <c:showLegendKey val="0"/>
            <c:showVal val="1"/>
            <c:showCatName val="0"/>
            <c:showSerName val="0"/>
            <c:showPercent val="0"/>
            <c:showBubbleSize val="0"/>
            <c:showLeaderLines val="0"/>
          </c:dLbls>
          <c:cat>
            <c:multiLvlStrRef>
              <c:f>Sheet1!$A$2:$A$6</c:f>
              <c:multiLvlStrCache>
                <c:ptCount val="5"/>
                <c:lvl>
                  <c:pt idx="0">
                    <c:v>Excellent</c:v>
                  </c:pt>
                  <c:pt idx="1">
                    <c:v>Strong</c:v>
                  </c:pt>
                  <c:pt idx="2">
                    <c:v>Potential</c:v>
                  </c:pt>
                  <c:pt idx="3">
                    <c:v>Weak</c:v>
                  </c:pt>
                  <c:pt idx="4">
                    <c:v>Poor</c:v>
                  </c:pt>
                </c:lvl>
              </c:multiLvlStrCache>
            </c:multiLvlStrRef>
          </c:cat>
          <c:val>
            <c:numRef>
              <c:f>Sheet1!$B$2:$B$6</c:f>
              <c:numCache>
                <c:formatCode>General</c:formatCode>
                <c:ptCount val="5"/>
                <c:pt idx="0">
                  <c:v>2</c:v>
                </c:pt>
                <c:pt idx="1">
                  <c:v>13</c:v>
                </c:pt>
                <c:pt idx="2">
                  <c:v>59</c:v>
                </c:pt>
                <c:pt idx="3">
                  <c:v>222</c:v>
                </c:pt>
                <c:pt idx="4">
                  <c:v>9</c:v>
                </c:pt>
              </c:numCache>
            </c:numRef>
          </c:val>
        </c:ser>
        <c:dLbls>
          <c:numFmt formatCode="#,##0" sourceLinked="0"/>
          <c:txPr>
            <a:bodyPr/>
            <a:lstStyle/>
            <a:p>
              <a:pPr>
                <a:defRPr b="0" i="0" strike="noStrike" sz="1100" u="none">
                  <a:solidFill>
                    <a:srgbClr val="1C2B25"/>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C2B25"/>
                </a:solidFill>
                <a:latin typeface="Calibri"/>
              </a:defRPr>
            </a:pPr>
            <a:endParaRPr lang="en-US"/>
          </a:p>
        </c:txPr>
        <c:crossAx val="2094734552"/>
        <c:crosses val="autoZero"/>
        <c:auto val="1"/>
        <c:lblAlgn val="ctr"/>
        <c:noMultiLvlLbl val="1"/>
      </c:catAx>
      <c:valAx>
        <c:axId val="2094734552"/>
        <c:scaling>
          <c:orientation val="minMax"/>
          <c:max val="240"/>
          <c:min val="0"/>
        </c:scaling>
        <c:delete val="0"/>
        <c:axPos val="b"/>
        <c:majorGridlines>
          <c:spPr>
            <a:ln w="12700" cap="flat">
              <a:solidFill>
                <a:srgbClr val="E4ECE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E6E66"/>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honestly: this is a validated analyst tool with a costed path to a national platform. Every number on this slide is independently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stages. The differentiator is stages 3 to 5: AI vetting with self-consistency voting, analyst authority over the model, and outputs that always include the case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 percent of pairings are honestly rejected with stated reasons. The pursue list is deliberately small: 15 rows across 8 companies, every one carrying a rigorous multi-vote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properties are what a governance review will ask for first, and they are already built: abstention, balanced narratives, independent verification and analyst authority with a permanent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finding is the strongest proof of credibility: a tool willing to report that the answer is not in the dataset. The per-vertical sourcing criteria are auto-generated on the summary page of every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review was run cold against the output file. Weak grades are disclosed deliberately: they map one-to-one onto roadmap phases, which is what credible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matters: none of these is an indictment, all four are normal platformization work. Saying them out loud now is what makes the national claim survivable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Phases 1 through 3 overlap. The long pole is data foundation and sovereignty, not the model. Exit criteria are written per phase in the roadmap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cost almost nothing and are prerequisites for everything else. Approving them today starts Phase 0 without a budget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Phase 0 and 1 approval plus the embeddings deployment. Everything on this slide is already true or already scheduled; nothing requires believing 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3023"/>
        </a:solidFill>
      </p:bgPr>
    </p:bg>
    <p:spTree>
      <p:nvGrpSpPr>
        <p:cNvPr id="1" name=""/>
        <p:cNvGrpSpPr/>
        <p:nvPr/>
      </p:nvGrpSpPr>
      <p:grpSpPr>
        <a:xfrm>
          <a:off x="0" y="0"/>
          <a:ext cx="0" cy="0"/>
          <a:chOff x="0" y="0"/>
          <a:chExt cx="0" cy="0"/>
        </a:xfrm>
      </p:grpSpPr>
      <p:sp>
        <p:nvSpPr>
          <p:cNvPr id="2" name="Shape 0"/>
          <p:cNvSpPr/>
          <p:nvPr/>
        </p:nvSpPr>
        <p:spPr>
          <a:xfrm>
            <a:off x="8412480" y="-1645920"/>
            <a:ext cx="5852160" cy="5852160"/>
          </a:xfrm>
          <a:prstGeom prst="ellipse">
            <a:avLst/>
          </a:prstGeom>
          <a:solidFill>
            <a:srgbClr val="02714E">
              <a:alpha val="28000"/>
            </a:srgbClr>
          </a:solidFill>
          <a:ln/>
        </p:spPr>
      </p:sp>
      <p:sp>
        <p:nvSpPr>
          <p:cNvPr id="3" name="Shape 1"/>
          <p:cNvSpPr/>
          <p:nvPr/>
        </p:nvSpPr>
        <p:spPr>
          <a:xfrm>
            <a:off x="10149840" y="3566160"/>
            <a:ext cx="4206240" cy="4206240"/>
          </a:xfrm>
          <a:prstGeom prst="ellipse">
            <a:avLst/>
          </a:prstGeom>
          <a:solidFill>
            <a:srgbClr val="C9A227">
              <a:alpha val="18000"/>
            </a:srgbClr>
          </a:solidFill>
          <a:ln/>
        </p:spPr>
      </p:sp>
      <p:sp>
        <p:nvSpPr>
          <p:cNvPr id="4" name="Text 2"/>
          <p:cNvSpPr/>
          <p:nvPr/>
        </p:nvSpPr>
        <p:spPr>
          <a:xfrm>
            <a:off x="640080" y="594360"/>
            <a:ext cx="868680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INVEST SAUDI  |  LEADERSHIP BRIEFING  |  JULY 2026</a:t>
            </a:r>
            <a:endParaRPr lang="en-US" sz="1200" dirty="0"/>
          </a:p>
        </p:txBody>
      </p:sp>
      <p:sp>
        <p:nvSpPr>
          <p:cNvPr id="5" name="Text 3"/>
          <p:cNvSpPr/>
          <p:nvPr/>
        </p:nvSpPr>
        <p:spPr>
          <a:xfrm>
            <a:off x="640080" y="1600200"/>
            <a:ext cx="969264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AI Investment Matching Engine</a:t>
            </a:r>
            <a:endParaRPr lang="en-US" sz="4400" dirty="0"/>
          </a:p>
        </p:txBody>
      </p:sp>
      <p:sp>
        <p:nvSpPr>
          <p:cNvPr id="6" name="Text 4"/>
          <p:cNvSpPr/>
          <p:nvPr/>
        </p:nvSpPr>
        <p:spPr>
          <a:xfrm>
            <a:off x="640080" y="2542032"/>
            <a:ext cx="9144000" cy="457200"/>
          </a:xfrm>
          <a:prstGeom prst="rect">
            <a:avLst/>
          </a:prstGeom>
          <a:noFill/>
          <a:ln/>
        </p:spPr>
        <p:txBody>
          <a:bodyPr wrap="square" lIns="0" tIns="0" rIns="0" bIns="0" rtlCol="0" anchor="ctr"/>
          <a:lstStyle/>
          <a:p>
            <a:pPr indent="0" marL="0">
              <a:buNone/>
            </a:pPr>
            <a:r>
              <a:rPr lang="en-US" sz="2000" dirty="0">
                <a:solidFill>
                  <a:srgbClr val="BFD8CD"/>
                </a:solidFill>
                <a:latin typeface="Calibri" pitchFamily="34" charset="0"/>
                <a:ea typeface="Calibri" pitchFamily="34" charset="-122"/>
                <a:cs typeface="Calibri" pitchFamily="34" charset="-120"/>
              </a:rPr>
              <a:t>From validated pilot to national platform</a:t>
            </a:r>
            <a:endParaRPr lang="en-US" sz="2000" dirty="0"/>
          </a:p>
        </p:txBody>
      </p:sp>
      <p:sp>
        <p:nvSpPr>
          <p:cNvPr id="7" name="Text 5"/>
          <p:cNvSpPr/>
          <p:nvPr/>
        </p:nvSpPr>
        <p:spPr>
          <a:xfrm>
            <a:off x="640080" y="3200400"/>
            <a:ext cx="9144000" cy="411480"/>
          </a:xfrm>
          <a:prstGeom prst="rect">
            <a:avLst/>
          </a:prstGeom>
          <a:noFill/>
          <a:ln/>
        </p:spPr>
        <p:txBody>
          <a:bodyPr wrap="square" lIns="0" tIns="0" rIns="0" bIns="0" rtlCol="0" anchor="ctr"/>
          <a:lstStyle/>
          <a:p>
            <a:pPr indent="0" marL="0">
              <a:buNone/>
            </a:pPr>
            <a:r>
              <a:rPr lang="en-US" sz="1600" i="1" dirty="0">
                <a:solidFill>
                  <a:srgbClr val="C9A227"/>
                </a:solidFill>
                <a:latin typeface="Calibri" pitchFamily="34" charset="0"/>
                <a:ea typeface="Calibri" pitchFamily="34" charset="-122"/>
                <a:cs typeface="Calibri" pitchFamily="34" charset="-120"/>
              </a:rPr>
              <a:t>Independently verified. Human-in-the-loop. Validated at pilot scale.</a:t>
            </a:r>
            <a:endParaRPr lang="en-US" sz="1600" dirty="0"/>
          </a:p>
        </p:txBody>
      </p:sp>
      <p:sp>
        <p:nvSpPr>
          <p:cNvPr id="8" name="Text 6"/>
          <p:cNvSpPr/>
          <p:nvPr/>
        </p:nvSpPr>
        <p:spPr>
          <a:xfrm>
            <a:off x="640080" y="4892040"/>
            <a:ext cx="2560320" cy="685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61</a:t>
            </a:r>
            <a:endParaRPr lang="en-US" sz="4000" dirty="0"/>
          </a:p>
        </p:txBody>
      </p:sp>
      <p:sp>
        <p:nvSpPr>
          <p:cNvPr id="9" name="Text 7"/>
          <p:cNvSpPr/>
          <p:nvPr/>
        </p:nvSpPr>
        <p:spPr>
          <a:xfrm>
            <a:off x="640080" y="5596128"/>
            <a:ext cx="2560320" cy="320040"/>
          </a:xfrm>
          <a:prstGeom prst="rect">
            <a:avLst/>
          </a:prstGeom>
          <a:noFill/>
          <a:ln/>
        </p:spPr>
        <p:txBody>
          <a:bodyPr wrap="square" lIns="0" tIns="0" rIns="0" bIns="0" rtlCol="0" anchor="ctr"/>
          <a:lstStyle/>
          <a:p>
            <a:pPr indent="0" marL="0">
              <a:buNone/>
            </a:pPr>
            <a:r>
              <a:rPr lang="en-US" sz="1300" dirty="0">
                <a:solidFill>
                  <a:srgbClr val="9DBBAD"/>
                </a:solidFill>
                <a:latin typeface="Calibri" pitchFamily="34" charset="0"/>
                <a:ea typeface="Calibri" pitchFamily="34" charset="-122"/>
                <a:cs typeface="Calibri" pitchFamily="34" charset="-120"/>
              </a:rPr>
              <a:t>companies screened</a:t>
            </a:r>
            <a:endParaRPr lang="en-US" sz="1300" dirty="0"/>
          </a:p>
        </p:txBody>
      </p:sp>
      <p:sp>
        <p:nvSpPr>
          <p:cNvPr id="10" name="Text 8"/>
          <p:cNvSpPr/>
          <p:nvPr/>
        </p:nvSpPr>
        <p:spPr>
          <a:xfrm>
            <a:off x="3429000" y="4892040"/>
            <a:ext cx="2560320" cy="685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12</a:t>
            </a:r>
            <a:endParaRPr lang="en-US" sz="4000" dirty="0"/>
          </a:p>
        </p:txBody>
      </p:sp>
      <p:sp>
        <p:nvSpPr>
          <p:cNvPr id="11" name="Text 9"/>
          <p:cNvSpPr/>
          <p:nvPr/>
        </p:nvSpPr>
        <p:spPr>
          <a:xfrm>
            <a:off x="3429000" y="5596128"/>
            <a:ext cx="2560320" cy="320040"/>
          </a:xfrm>
          <a:prstGeom prst="rect">
            <a:avLst/>
          </a:prstGeom>
          <a:noFill/>
          <a:ln/>
        </p:spPr>
        <p:txBody>
          <a:bodyPr wrap="square" lIns="0" tIns="0" rIns="0" bIns="0" rtlCol="0" anchor="ctr"/>
          <a:lstStyle/>
          <a:p>
            <a:pPr indent="0" marL="0">
              <a:buNone/>
            </a:pPr>
            <a:r>
              <a:rPr lang="en-US" sz="1300" dirty="0">
                <a:solidFill>
                  <a:srgbClr val="9DBBAD"/>
                </a:solidFill>
                <a:latin typeface="Calibri" pitchFamily="34" charset="0"/>
                <a:ea typeface="Calibri" pitchFamily="34" charset="-122"/>
                <a:cs typeface="Calibri" pitchFamily="34" charset="-120"/>
              </a:rPr>
              <a:t>opportunities</a:t>
            </a:r>
            <a:endParaRPr lang="en-US" sz="1300" dirty="0"/>
          </a:p>
        </p:txBody>
      </p:sp>
      <p:sp>
        <p:nvSpPr>
          <p:cNvPr id="12" name="Text 10"/>
          <p:cNvSpPr/>
          <p:nvPr/>
        </p:nvSpPr>
        <p:spPr>
          <a:xfrm>
            <a:off x="6217920" y="4892040"/>
            <a:ext cx="2560320" cy="685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732</a:t>
            </a:r>
            <a:endParaRPr lang="en-US" sz="4000" dirty="0"/>
          </a:p>
        </p:txBody>
      </p:sp>
      <p:sp>
        <p:nvSpPr>
          <p:cNvPr id="13" name="Text 11"/>
          <p:cNvSpPr/>
          <p:nvPr/>
        </p:nvSpPr>
        <p:spPr>
          <a:xfrm>
            <a:off x="6217920" y="5596128"/>
            <a:ext cx="2560320" cy="320040"/>
          </a:xfrm>
          <a:prstGeom prst="rect">
            <a:avLst/>
          </a:prstGeom>
          <a:noFill/>
          <a:ln/>
        </p:spPr>
        <p:txBody>
          <a:bodyPr wrap="square" lIns="0" tIns="0" rIns="0" bIns="0" rtlCol="0" anchor="ctr"/>
          <a:lstStyle/>
          <a:p>
            <a:pPr indent="0" marL="0">
              <a:buNone/>
            </a:pPr>
            <a:r>
              <a:rPr lang="en-US" sz="1300" dirty="0">
                <a:solidFill>
                  <a:srgbClr val="9DBBAD"/>
                </a:solidFill>
                <a:latin typeface="Calibri" pitchFamily="34" charset="0"/>
                <a:ea typeface="Calibri" pitchFamily="34" charset="-122"/>
                <a:cs typeface="Calibri" pitchFamily="34" charset="-120"/>
              </a:rPr>
              <a:t>pairings assessed</a:t>
            </a:r>
            <a:endParaRPr lang="en-US" sz="1300" dirty="0"/>
          </a:p>
        </p:txBody>
      </p:sp>
      <p:sp>
        <p:nvSpPr>
          <p:cNvPr id="14" name="Text 12"/>
          <p:cNvSpPr/>
          <p:nvPr/>
        </p:nvSpPr>
        <p:spPr>
          <a:xfrm>
            <a:off x="9006840" y="4892040"/>
            <a:ext cx="2560320" cy="685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8/8</a:t>
            </a:r>
            <a:endParaRPr lang="en-US" sz="4000" dirty="0"/>
          </a:p>
        </p:txBody>
      </p:sp>
      <p:sp>
        <p:nvSpPr>
          <p:cNvPr id="15" name="Text 13"/>
          <p:cNvSpPr/>
          <p:nvPr/>
        </p:nvSpPr>
        <p:spPr>
          <a:xfrm>
            <a:off x="9006840" y="5596128"/>
            <a:ext cx="2560320" cy="320040"/>
          </a:xfrm>
          <a:prstGeom prst="rect">
            <a:avLst/>
          </a:prstGeom>
          <a:noFill/>
          <a:ln/>
        </p:spPr>
        <p:txBody>
          <a:bodyPr wrap="square" lIns="0" tIns="0" rIns="0" bIns="0" rtlCol="0" anchor="ctr"/>
          <a:lstStyle/>
          <a:p>
            <a:pPr indent="0" marL="0">
              <a:buNone/>
            </a:pPr>
            <a:r>
              <a:rPr lang="en-US" sz="1300" dirty="0">
                <a:solidFill>
                  <a:srgbClr val="9DBBAD"/>
                </a:solidFill>
                <a:latin typeface="Calibri" pitchFamily="34" charset="0"/>
                <a:ea typeface="Calibri" pitchFamily="34" charset="-122"/>
                <a:cs typeface="Calibri" pitchFamily="34" charset="-120"/>
              </a:rPr>
              <a:t>verification layers pass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02714E"/>
                </a:solidFill>
                <a:latin typeface="Calibri" pitchFamily="34" charset="0"/>
                <a:ea typeface="Calibri" pitchFamily="34" charset="-122"/>
                <a:cs typeface="Calibri" pitchFamily="34" charset="-120"/>
              </a:rPr>
              <a:t>WHAT IT IS</a:t>
            </a:r>
            <a:endParaRPr lang="en-US" sz="1200" dirty="0"/>
          </a:p>
        </p:txBody>
      </p:sp>
      <p:sp>
        <p:nvSpPr>
          <p:cNvPr id="3" name="Text 1"/>
          <p:cNvSpPr/>
          <p:nvPr/>
        </p:nvSpPr>
        <p:spPr>
          <a:xfrm>
            <a:off x="548640" y="640080"/>
            <a:ext cx="11064240" cy="685800"/>
          </a:xfrm>
          <a:prstGeom prst="rect">
            <a:avLst/>
          </a:prstGeom>
          <a:noFill/>
          <a:ln/>
        </p:spPr>
        <p:txBody>
          <a:bodyPr wrap="square" lIns="0" tIns="0" rIns="0" bIns="0" rtlCol="0" anchor="ctr"/>
          <a:lstStyle/>
          <a:p>
            <a:pPr indent="0" marL="0">
              <a:buNone/>
            </a:pPr>
            <a:r>
              <a:rPr lang="en-US" sz="3200" b="1" dirty="0">
                <a:solidFill>
                  <a:srgbClr val="1C2B25"/>
                </a:solidFill>
                <a:latin typeface="Cambria" pitchFamily="34" charset="0"/>
                <a:ea typeface="Cambria" pitchFamily="34" charset="-122"/>
                <a:cs typeface="Cambria" pitchFamily="34" charset="-120"/>
              </a:rPr>
              <a:t>An analyst that reads everything, and shows its work</a:t>
            </a:r>
            <a:endParaRPr lang="en-US" sz="3200" dirty="0"/>
          </a:p>
        </p:txBody>
      </p:sp>
      <p:sp>
        <p:nvSpPr>
          <p:cNvPr id="4" name="Text 2"/>
          <p:cNvSpPr/>
          <p:nvPr/>
        </p:nvSpPr>
        <p:spPr>
          <a:xfrm>
            <a:off x="548640" y="1417320"/>
            <a:ext cx="5120640" cy="1371600"/>
          </a:xfrm>
          <a:prstGeom prst="rect">
            <a:avLst/>
          </a:prstGeom>
          <a:noFill/>
          <a:ln/>
        </p:spPr>
        <p:txBody>
          <a:bodyPr wrap="square" lIns="0" tIns="0" rIns="0" bIns="0" rtlCol="0" anchor="ctr"/>
          <a:lstStyle/>
          <a:p>
            <a:pPr indent="0" marL="0">
              <a:buNone/>
            </a:pPr>
            <a:r>
              <a:rPr lang="en-US" sz="1500" dirty="0">
                <a:solidFill>
                  <a:srgbClr val="1C2B25"/>
                </a:solidFill>
                <a:latin typeface="Calibri" pitchFamily="34" charset="0"/>
                <a:ea typeface="Calibri" pitchFamily="34" charset="-122"/>
                <a:cs typeface="Calibri" pitchFamily="34" charset="-120"/>
              </a:rPr>
              <a:t>The engine screens every company against every opportunity and reasons like an investment analyst: sector taxonomy, value-chain roles, and AI-vetted verdicts, not keyword overlap.</a:t>
            </a:r>
            <a:endParaRPr lang="en-US" sz="1500" dirty="0"/>
          </a:p>
        </p:txBody>
      </p:sp>
      <p:sp>
        <p:nvSpPr>
          <p:cNvPr id="5" name="Text 3"/>
          <p:cNvSpPr/>
          <p:nvPr/>
        </p:nvSpPr>
        <p:spPr>
          <a:xfrm>
            <a:off x="548640" y="2743200"/>
            <a:ext cx="5120640" cy="914400"/>
          </a:xfrm>
          <a:prstGeom prst="rect">
            <a:avLst/>
          </a:prstGeom>
          <a:noFill/>
          <a:ln/>
        </p:spPr>
        <p:txBody>
          <a:bodyPr wrap="square" lIns="0" tIns="0" rIns="0" bIns="0" rtlCol="0" anchor="ctr"/>
          <a:lstStyle/>
          <a:p>
            <a:pPr indent="0" marL="0">
              <a:buNone/>
            </a:pPr>
            <a:r>
              <a:rPr lang="en-US" sz="1500" dirty="0">
                <a:solidFill>
                  <a:srgbClr val="5E6E66"/>
                </a:solidFill>
                <a:latin typeface="Calibri" pitchFamily="34" charset="0"/>
                <a:ea typeface="Calibri" pitchFamily="34" charset="-122"/>
                <a:cs typeface="Calibri" pitchFamily="34" charset="-120"/>
              </a:rPr>
              <a:t>Every output ships with the reason it was made: </a:t>
            </a:r>
            <a:pPr indent="0" marL="0">
              <a:buNone/>
            </a:pPr>
            <a:r>
              <a:rPr lang="en-US" sz="1500" i="1" dirty="0">
                <a:solidFill>
                  <a:srgbClr val="5E6E66"/>
                </a:solidFill>
                <a:latin typeface="Calibri" pitchFamily="34" charset="0"/>
                <a:ea typeface="Calibri" pitchFamily="34" charset="-122"/>
                <a:cs typeface="Calibri" pitchFamily="34" charset="-120"/>
              </a:rPr>
              <a:t>strengths, risks, engagement plan, and an executive summary per lead.</a:t>
            </a:r>
            <a:endParaRPr lang="en-US" sz="1500" dirty="0"/>
          </a:p>
        </p:txBody>
      </p:sp>
      <p:sp>
        <p:nvSpPr>
          <p:cNvPr id="6" name="Shape 4"/>
          <p:cNvSpPr/>
          <p:nvPr/>
        </p:nvSpPr>
        <p:spPr>
          <a:xfrm>
            <a:off x="548640" y="4160520"/>
            <a:ext cx="5120640" cy="1965960"/>
          </a:xfrm>
          <a:prstGeom prst="roundRect">
            <a:avLst>
              <a:gd name="adj" fmla="val 3721"/>
            </a:avLst>
          </a:prstGeom>
          <a:solidFill>
            <a:srgbClr val="EAF3EF"/>
          </a:solidFill>
          <a:ln/>
        </p:spPr>
      </p:sp>
      <p:sp>
        <p:nvSpPr>
          <p:cNvPr id="7" name="Text 5"/>
          <p:cNvSpPr/>
          <p:nvPr/>
        </p:nvSpPr>
        <p:spPr>
          <a:xfrm>
            <a:off x="822960" y="4389120"/>
            <a:ext cx="4572000" cy="320040"/>
          </a:xfrm>
          <a:prstGeom prst="rect">
            <a:avLst/>
          </a:prstGeom>
          <a:noFill/>
          <a:ln/>
        </p:spPr>
        <p:txBody>
          <a:bodyPr wrap="square" lIns="0" tIns="0" rIns="0" bIns="0" rtlCol="0" anchor="ctr"/>
          <a:lstStyle/>
          <a:p>
            <a:pPr indent="0" marL="0">
              <a:buNone/>
            </a:pPr>
            <a:r>
              <a:rPr lang="en-US" sz="1300" b="1" dirty="0">
                <a:solidFill>
                  <a:srgbClr val="02714E"/>
                </a:solidFill>
                <a:latin typeface="Calibri" pitchFamily="34" charset="0"/>
                <a:ea typeface="Calibri" pitchFamily="34" charset="-122"/>
                <a:cs typeface="Calibri" pitchFamily="34" charset="-120"/>
              </a:rPr>
              <a:t>What we can claim today</a:t>
            </a:r>
            <a:endParaRPr lang="en-US" sz="1300" dirty="0"/>
          </a:p>
        </p:txBody>
      </p:sp>
      <p:sp>
        <p:nvSpPr>
          <p:cNvPr id="8" name="Text 6"/>
          <p:cNvSpPr/>
          <p:nvPr/>
        </p:nvSpPr>
        <p:spPr>
          <a:xfrm>
            <a:off x="822960" y="4754880"/>
            <a:ext cx="4572000" cy="1188720"/>
          </a:xfrm>
          <a:prstGeom prst="rect">
            <a:avLst/>
          </a:prstGeom>
          <a:noFill/>
          <a:ln/>
        </p:spPr>
        <p:txBody>
          <a:bodyPr wrap="square" lIns="0" tIns="0" rIns="0" bIns="0" rtlCol="0" anchor="ctr"/>
          <a:lstStyle/>
          <a:p>
            <a:pPr indent="0" marL="0">
              <a:buNone/>
            </a:pPr>
            <a:r>
              <a:rPr lang="en-US" sz="1500" i="1" dirty="0">
                <a:solidFill>
                  <a:srgbClr val="1C2B25"/>
                </a:solidFill>
                <a:latin typeface="Cambria" pitchFamily="34" charset="0"/>
                <a:ea typeface="Cambria" pitchFamily="34" charset="-122"/>
                <a:cs typeface="Cambria" pitchFamily="34" charset="-120"/>
              </a:rPr>
              <a:t>“An AI decision-support engine for investment matching, independently verified, human-in-the-loop, validated at pilot scale.”</a:t>
            </a:r>
            <a:endParaRPr lang="en-US" sz="1500" dirty="0"/>
          </a:p>
        </p:txBody>
      </p:sp>
      <p:sp>
        <p:nvSpPr>
          <p:cNvPr id="9" name="Shape 7"/>
          <p:cNvSpPr/>
          <p:nvPr/>
        </p:nvSpPr>
        <p:spPr>
          <a:xfrm>
            <a:off x="6309360" y="1417320"/>
            <a:ext cx="566928" cy="566928"/>
          </a:xfrm>
          <a:prstGeom prst="ellipse">
            <a:avLst/>
          </a:prstGeom>
          <a:solidFill>
            <a:srgbClr val="02714E"/>
          </a:solidFill>
          <a:ln/>
        </p:spPr>
      </p:sp>
      <p:pic>
        <p:nvPicPr>
          <p:cNvPr id="10" name="Image 0" descr="preencoded.png">    </p:cNvPr>
          <p:cNvPicPr>
            <a:picLocks noChangeAspect="1"/>
          </p:cNvPicPr>
          <p:nvPr/>
        </p:nvPicPr>
        <p:blipFill>
          <a:blip r:embed="rId1"/>
          <a:stretch>
            <a:fillRect/>
          </a:stretch>
        </p:blipFill>
        <p:spPr>
          <a:xfrm>
            <a:off x="6456761" y="1564721"/>
            <a:ext cx="272125" cy="272125"/>
          </a:xfrm>
          <a:prstGeom prst="rect">
            <a:avLst/>
          </a:prstGeom>
        </p:spPr>
      </p:pic>
      <p:sp>
        <p:nvSpPr>
          <p:cNvPr id="11" name="Text 8"/>
          <p:cNvSpPr/>
          <p:nvPr/>
        </p:nvSpPr>
        <p:spPr>
          <a:xfrm>
            <a:off x="7086600" y="1389888"/>
            <a:ext cx="4480560" cy="292608"/>
          </a:xfrm>
          <a:prstGeom prst="rect">
            <a:avLst/>
          </a:prstGeom>
          <a:noFill/>
          <a:ln/>
        </p:spPr>
        <p:txBody>
          <a:bodyPr wrap="square" lIns="0" tIns="0" rIns="0" bIns="0" rtlCol="0" anchor="ctr"/>
          <a:lstStyle/>
          <a:p>
            <a:pPr indent="0" marL="0">
              <a:buNone/>
            </a:pPr>
            <a:r>
              <a:rPr lang="en-US" sz="1500" b="1" dirty="0">
                <a:solidFill>
                  <a:srgbClr val="1C2B25"/>
                </a:solidFill>
                <a:latin typeface="Calibri" pitchFamily="34" charset="0"/>
                <a:ea typeface="Calibri" pitchFamily="34" charset="-122"/>
                <a:cs typeface="Calibri" pitchFamily="34" charset="-120"/>
              </a:rPr>
              <a:t>Classify</a:t>
            </a:r>
            <a:endParaRPr lang="en-US" sz="1500" dirty="0"/>
          </a:p>
        </p:txBody>
      </p:sp>
      <p:sp>
        <p:nvSpPr>
          <p:cNvPr id="12" name="Text 9"/>
          <p:cNvSpPr/>
          <p:nvPr/>
        </p:nvSpPr>
        <p:spPr>
          <a:xfrm>
            <a:off x="7086600" y="1682496"/>
            <a:ext cx="4480560" cy="566928"/>
          </a:xfrm>
          <a:prstGeom prst="rect">
            <a:avLst/>
          </a:prstGeom>
          <a:noFill/>
          <a:ln/>
        </p:spPr>
        <p:txBody>
          <a:bodyPr wrap="square" lIns="0" tIns="0" rIns="0" bIns="0" rtlCol="0" anchor="ctr"/>
          <a:lstStyle/>
          <a:p>
            <a:pPr indent="0" marL="0">
              <a:buNone/>
            </a:pPr>
            <a:r>
              <a:rPr lang="en-US" sz="1250" dirty="0">
                <a:solidFill>
                  <a:srgbClr val="5E6E66"/>
                </a:solidFill>
                <a:latin typeface="Calibri" pitchFamily="34" charset="0"/>
                <a:ea typeface="Calibri" pitchFamily="34" charset="-122"/>
                <a:cs typeface="Calibri" pitchFamily="34" charset="-120"/>
              </a:rPr>
              <a:t>Sector taxonomy and value-chain role for every company and opportunity</a:t>
            </a:r>
            <a:endParaRPr lang="en-US" sz="1250" dirty="0"/>
          </a:p>
        </p:txBody>
      </p:sp>
      <p:sp>
        <p:nvSpPr>
          <p:cNvPr id="13" name="Shape 10"/>
          <p:cNvSpPr/>
          <p:nvPr/>
        </p:nvSpPr>
        <p:spPr>
          <a:xfrm>
            <a:off x="6583680" y="2020824"/>
            <a:ext cx="0" cy="329184"/>
          </a:xfrm>
          <a:prstGeom prst="line">
            <a:avLst/>
          </a:prstGeom>
          <a:noFill/>
          <a:ln w="19050">
            <a:solidFill>
              <a:srgbClr val="C9DCD3"/>
            </a:solidFill>
            <a:prstDash val="solid"/>
          </a:ln>
        </p:spPr>
      </p:sp>
      <p:sp>
        <p:nvSpPr>
          <p:cNvPr id="14" name="Shape 11"/>
          <p:cNvSpPr/>
          <p:nvPr/>
        </p:nvSpPr>
        <p:spPr>
          <a:xfrm>
            <a:off x="6309360" y="2386584"/>
            <a:ext cx="566928" cy="566928"/>
          </a:xfrm>
          <a:prstGeom prst="ellipse">
            <a:avLst/>
          </a:prstGeom>
          <a:solidFill>
            <a:srgbClr val="02714E"/>
          </a:solidFill>
          <a:ln/>
        </p:spPr>
      </p:sp>
      <p:pic>
        <p:nvPicPr>
          <p:cNvPr id="15" name="Image 1" descr="preencoded.png">    </p:cNvPr>
          <p:cNvPicPr>
            <a:picLocks noChangeAspect="1"/>
          </p:cNvPicPr>
          <p:nvPr/>
        </p:nvPicPr>
        <p:blipFill>
          <a:blip r:embed="rId2"/>
          <a:stretch>
            <a:fillRect/>
          </a:stretch>
        </p:blipFill>
        <p:spPr>
          <a:xfrm>
            <a:off x="6456761" y="2533985"/>
            <a:ext cx="272125" cy="272125"/>
          </a:xfrm>
          <a:prstGeom prst="rect">
            <a:avLst/>
          </a:prstGeom>
        </p:spPr>
      </p:pic>
      <p:sp>
        <p:nvSpPr>
          <p:cNvPr id="16" name="Text 12"/>
          <p:cNvSpPr/>
          <p:nvPr/>
        </p:nvSpPr>
        <p:spPr>
          <a:xfrm>
            <a:off x="7086600" y="2359152"/>
            <a:ext cx="4480560" cy="292608"/>
          </a:xfrm>
          <a:prstGeom prst="rect">
            <a:avLst/>
          </a:prstGeom>
          <a:noFill/>
          <a:ln/>
        </p:spPr>
        <p:txBody>
          <a:bodyPr wrap="square" lIns="0" tIns="0" rIns="0" bIns="0" rtlCol="0" anchor="ctr"/>
          <a:lstStyle/>
          <a:p>
            <a:pPr indent="0" marL="0">
              <a:buNone/>
            </a:pPr>
            <a:r>
              <a:rPr lang="en-US" sz="1500" b="1" dirty="0">
                <a:solidFill>
                  <a:srgbClr val="1C2B25"/>
                </a:solidFill>
                <a:latin typeface="Calibri" pitchFamily="34" charset="0"/>
                <a:ea typeface="Calibri" pitchFamily="34" charset="-122"/>
                <a:cs typeface="Calibri" pitchFamily="34" charset="-120"/>
              </a:rPr>
              <a:t>Score</a:t>
            </a:r>
            <a:endParaRPr lang="en-US" sz="1500" dirty="0"/>
          </a:p>
        </p:txBody>
      </p:sp>
      <p:sp>
        <p:nvSpPr>
          <p:cNvPr id="17" name="Text 13"/>
          <p:cNvSpPr/>
          <p:nvPr/>
        </p:nvSpPr>
        <p:spPr>
          <a:xfrm>
            <a:off x="7086600" y="2651760"/>
            <a:ext cx="4480560" cy="566928"/>
          </a:xfrm>
          <a:prstGeom prst="rect">
            <a:avLst/>
          </a:prstGeom>
          <a:noFill/>
          <a:ln/>
        </p:spPr>
        <p:txBody>
          <a:bodyPr wrap="square" lIns="0" tIns="0" rIns="0" bIns="0" rtlCol="0" anchor="ctr"/>
          <a:lstStyle/>
          <a:p>
            <a:pPr indent="0" marL="0">
              <a:buNone/>
            </a:pPr>
            <a:r>
              <a:rPr lang="en-US" sz="1250" dirty="0">
                <a:solidFill>
                  <a:srgbClr val="5E6E66"/>
                </a:solidFill>
                <a:latin typeface="Calibri" pitchFamily="34" charset="0"/>
                <a:ea typeface="Calibri" pitchFamily="34" charset="-122"/>
                <a:cs typeface="Calibri" pitchFamily="34" charset="-120"/>
              </a:rPr>
              <a:t>Semantic evidence: profile, products, sector fit, with false-positive penalties</a:t>
            </a:r>
            <a:endParaRPr lang="en-US" sz="1250" dirty="0"/>
          </a:p>
        </p:txBody>
      </p:sp>
      <p:sp>
        <p:nvSpPr>
          <p:cNvPr id="18" name="Shape 14"/>
          <p:cNvSpPr/>
          <p:nvPr/>
        </p:nvSpPr>
        <p:spPr>
          <a:xfrm>
            <a:off x="6583680" y="2990088"/>
            <a:ext cx="0" cy="329184"/>
          </a:xfrm>
          <a:prstGeom prst="line">
            <a:avLst/>
          </a:prstGeom>
          <a:noFill/>
          <a:ln w="19050">
            <a:solidFill>
              <a:srgbClr val="C9DCD3"/>
            </a:solidFill>
            <a:prstDash val="solid"/>
          </a:ln>
        </p:spPr>
      </p:sp>
      <p:sp>
        <p:nvSpPr>
          <p:cNvPr id="19" name="Shape 15"/>
          <p:cNvSpPr/>
          <p:nvPr/>
        </p:nvSpPr>
        <p:spPr>
          <a:xfrm>
            <a:off x="6309360" y="3355848"/>
            <a:ext cx="566928" cy="566928"/>
          </a:xfrm>
          <a:prstGeom prst="ellipse">
            <a:avLst/>
          </a:prstGeom>
          <a:solidFill>
            <a:srgbClr val="02714E"/>
          </a:solidFill>
          <a:ln/>
        </p:spPr>
      </p:sp>
      <p:pic>
        <p:nvPicPr>
          <p:cNvPr id="20" name="Image 2" descr="preencoded.png">    </p:cNvPr>
          <p:cNvPicPr>
            <a:picLocks noChangeAspect="1"/>
          </p:cNvPicPr>
          <p:nvPr/>
        </p:nvPicPr>
        <p:blipFill>
          <a:blip r:embed="rId3"/>
          <a:stretch>
            <a:fillRect/>
          </a:stretch>
        </p:blipFill>
        <p:spPr>
          <a:xfrm>
            <a:off x="6456761" y="3503249"/>
            <a:ext cx="272125" cy="272125"/>
          </a:xfrm>
          <a:prstGeom prst="rect">
            <a:avLst/>
          </a:prstGeom>
        </p:spPr>
      </p:pic>
      <p:sp>
        <p:nvSpPr>
          <p:cNvPr id="21" name="Text 16"/>
          <p:cNvSpPr/>
          <p:nvPr/>
        </p:nvSpPr>
        <p:spPr>
          <a:xfrm>
            <a:off x="7086600" y="3328416"/>
            <a:ext cx="4480560" cy="292608"/>
          </a:xfrm>
          <a:prstGeom prst="rect">
            <a:avLst/>
          </a:prstGeom>
          <a:noFill/>
          <a:ln/>
        </p:spPr>
        <p:txBody>
          <a:bodyPr wrap="square" lIns="0" tIns="0" rIns="0" bIns="0" rtlCol="0" anchor="ctr"/>
          <a:lstStyle/>
          <a:p>
            <a:pPr indent="0" marL="0">
              <a:buNone/>
            </a:pPr>
            <a:r>
              <a:rPr lang="en-US" sz="1500" b="1" dirty="0">
                <a:solidFill>
                  <a:srgbClr val="1C2B25"/>
                </a:solidFill>
                <a:latin typeface="Calibri" pitchFamily="34" charset="0"/>
                <a:ea typeface="Calibri" pitchFamily="34" charset="-122"/>
                <a:cs typeface="Calibri" pitchFamily="34" charset="-120"/>
              </a:rPr>
              <a:t>AI gate</a:t>
            </a:r>
            <a:endParaRPr lang="en-US" sz="1500" dirty="0"/>
          </a:p>
        </p:txBody>
      </p:sp>
      <p:sp>
        <p:nvSpPr>
          <p:cNvPr id="22" name="Text 17"/>
          <p:cNvSpPr/>
          <p:nvPr/>
        </p:nvSpPr>
        <p:spPr>
          <a:xfrm>
            <a:off x="7086600" y="3621024"/>
            <a:ext cx="4480560" cy="566928"/>
          </a:xfrm>
          <a:prstGeom prst="rect">
            <a:avLst/>
          </a:prstGeom>
          <a:noFill/>
          <a:ln/>
        </p:spPr>
        <p:txBody>
          <a:bodyPr wrap="square" lIns="0" tIns="0" rIns="0" bIns="0" rtlCol="0" anchor="ctr"/>
          <a:lstStyle/>
          <a:p>
            <a:pPr indent="0" marL="0">
              <a:buNone/>
            </a:pPr>
            <a:r>
              <a:rPr lang="en-US" sz="1250" dirty="0">
                <a:solidFill>
                  <a:srgbClr val="5E6E66"/>
                </a:solidFill>
                <a:latin typeface="Calibri" pitchFamily="34" charset="0"/>
                <a:ea typeface="Calibri" pitchFamily="34" charset="-122"/>
                <a:cs typeface="Calibri" pitchFamily="34" charset="-120"/>
              </a:rPr>
              <a:t>Multi-vote verdicts on every exported row; unvetted pairs cannot rank high</a:t>
            </a:r>
            <a:endParaRPr lang="en-US" sz="1250" dirty="0"/>
          </a:p>
        </p:txBody>
      </p:sp>
      <p:sp>
        <p:nvSpPr>
          <p:cNvPr id="23" name="Shape 18"/>
          <p:cNvSpPr/>
          <p:nvPr/>
        </p:nvSpPr>
        <p:spPr>
          <a:xfrm>
            <a:off x="6583680" y="3959352"/>
            <a:ext cx="0" cy="329184"/>
          </a:xfrm>
          <a:prstGeom prst="line">
            <a:avLst/>
          </a:prstGeom>
          <a:noFill/>
          <a:ln w="19050">
            <a:solidFill>
              <a:srgbClr val="C9DCD3"/>
            </a:solidFill>
            <a:prstDash val="solid"/>
          </a:ln>
        </p:spPr>
      </p:sp>
      <p:sp>
        <p:nvSpPr>
          <p:cNvPr id="24" name="Shape 19"/>
          <p:cNvSpPr/>
          <p:nvPr/>
        </p:nvSpPr>
        <p:spPr>
          <a:xfrm>
            <a:off x="6309360" y="4325112"/>
            <a:ext cx="566928" cy="566928"/>
          </a:xfrm>
          <a:prstGeom prst="ellipse">
            <a:avLst/>
          </a:prstGeom>
          <a:solidFill>
            <a:srgbClr val="02714E"/>
          </a:solidFill>
          <a:ln/>
        </p:spPr>
      </p:sp>
      <p:pic>
        <p:nvPicPr>
          <p:cNvPr id="25" name="Image 3" descr="preencoded.png">    </p:cNvPr>
          <p:cNvPicPr>
            <a:picLocks noChangeAspect="1"/>
          </p:cNvPicPr>
          <p:nvPr/>
        </p:nvPicPr>
        <p:blipFill>
          <a:blip r:embed="rId4"/>
          <a:stretch>
            <a:fillRect/>
          </a:stretch>
        </p:blipFill>
        <p:spPr>
          <a:xfrm>
            <a:off x="6456761" y="4472513"/>
            <a:ext cx="272125" cy="272125"/>
          </a:xfrm>
          <a:prstGeom prst="rect">
            <a:avLst/>
          </a:prstGeom>
        </p:spPr>
      </p:pic>
      <p:sp>
        <p:nvSpPr>
          <p:cNvPr id="26" name="Text 20"/>
          <p:cNvSpPr/>
          <p:nvPr/>
        </p:nvSpPr>
        <p:spPr>
          <a:xfrm>
            <a:off x="7086600" y="4297680"/>
            <a:ext cx="4480560" cy="292608"/>
          </a:xfrm>
          <a:prstGeom prst="rect">
            <a:avLst/>
          </a:prstGeom>
          <a:noFill/>
          <a:ln/>
        </p:spPr>
        <p:txBody>
          <a:bodyPr wrap="square" lIns="0" tIns="0" rIns="0" bIns="0" rtlCol="0" anchor="ctr"/>
          <a:lstStyle/>
          <a:p>
            <a:pPr indent="0" marL="0">
              <a:buNone/>
            </a:pPr>
            <a:r>
              <a:rPr lang="en-US" sz="1500" b="1" dirty="0">
                <a:solidFill>
                  <a:srgbClr val="1C2B25"/>
                </a:solidFill>
                <a:latin typeface="Calibri" pitchFamily="34" charset="0"/>
                <a:ea typeface="Calibri" pitchFamily="34" charset="-122"/>
                <a:cs typeface="Calibri" pitchFamily="34" charset="-120"/>
              </a:rPr>
              <a:t>Analyst rules</a:t>
            </a:r>
            <a:endParaRPr lang="en-US" sz="1500" dirty="0"/>
          </a:p>
        </p:txBody>
      </p:sp>
      <p:sp>
        <p:nvSpPr>
          <p:cNvPr id="27" name="Text 21"/>
          <p:cNvSpPr/>
          <p:nvPr/>
        </p:nvSpPr>
        <p:spPr>
          <a:xfrm>
            <a:off x="7086600" y="4590288"/>
            <a:ext cx="4480560" cy="566928"/>
          </a:xfrm>
          <a:prstGeom prst="rect">
            <a:avLst/>
          </a:prstGeom>
          <a:noFill/>
          <a:ln/>
        </p:spPr>
        <p:txBody>
          <a:bodyPr wrap="square" lIns="0" tIns="0" rIns="0" bIns="0" rtlCol="0" anchor="ctr"/>
          <a:lstStyle/>
          <a:p>
            <a:pPr indent="0" marL="0">
              <a:buNone/>
            </a:pPr>
            <a:r>
              <a:rPr lang="en-US" sz="1250" dirty="0">
                <a:solidFill>
                  <a:srgbClr val="5E6E66"/>
                </a:solidFill>
                <a:latin typeface="Calibri" pitchFamily="34" charset="0"/>
                <a:ea typeface="Calibri" pitchFamily="34" charset="-122"/>
                <a:cs typeface="Calibri" pitchFamily="34" charset="-120"/>
              </a:rPr>
              <a:t>Human verdicts outrank the model, permanently</a:t>
            </a:r>
            <a:endParaRPr lang="en-US" sz="1250" dirty="0"/>
          </a:p>
        </p:txBody>
      </p:sp>
      <p:sp>
        <p:nvSpPr>
          <p:cNvPr id="28" name="Shape 22"/>
          <p:cNvSpPr/>
          <p:nvPr/>
        </p:nvSpPr>
        <p:spPr>
          <a:xfrm>
            <a:off x="6583680" y="4928616"/>
            <a:ext cx="0" cy="329184"/>
          </a:xfrm>
          <a:prstGeom prst="line">
            <a:avLst/>
          </a:prstGeom>
          <a:noFill/>
          <a:ln w="19050">
            <a:solidFill>
              <a:srgbClr val="C9DCD3"/>
            </a:solidFill>
            <a:prstDash val="solid"/>
          </a:ln>
        </p:spPr>
      </p:sp>
      <p:sp>
        <p:nvSpPr>
          <p:cNvPr id="29" name="Shape 23"/>
          <p:cNvSpPr/>
          <p:nvPr/>
        </p:nvSpPr>
        <p:spPr>
          <a:xfrm>
            <a:off x="6309360" y="5294376"/>
            <a:ext cx="566928" cy="566928"/>
          </a:xfrm>
          <a:prstGeom prst="ellipse">
            <a:avLst/>
          </a:prstGeom>
          <a:solidFill>
            <a:srgbClr val="02714E"/>
          </a:solidFill>
          <a:ln/>
        </p:spPr>
      </p:sp>
      <p:pic>
        <p:nvPicPr>
          <p:cNvPr id="30" name="Image 4" descr="preencoded.png">    </p:cNvPr>
          <p:cNvPicPr>
            <a:picLocks noChangeAspect="1"/>
          </p:cNvPicPr>
          <p:nvPr/>
        </p:nvPicPr>
        <p:blipFill>
          <a:blip r:embed="rId5"/>
          <a:stretch>
            <a:fillRect/>
          </a:stretch>
        </p:blipFill>
        <p:spPr>
          <a:xfrm>
            <a:off x="6456761" y="5441777"/>
            <a:ext cx="272125" cy="272125"/>
          </a:xfrm>
          <a:prstGeom prst="rect">
            <a:avLst/>
          </a:prstGeom>
        </p:spPr>
      </p:pic>
      <p:sp>
        <p:nvSpPr>
          <p:cNvPr id="31" name="Text 24"/>
          <p:cNvSpPr/>
          <p:nvPr/>
        </p:nvSpPr>
        <p:spPr>
          <a:xfrm>
            <a:off x="7086600" y="5266944"/>
            <a:ext cx="4480560" cy="292608"/>
          </a:xfrm>
          <a:prstGeom prst="rect">
            <a:avLst/>
          </a:prstGeom>
          <a:noFill/>
          <a:ln/>
        </p:spPr>
        <p:txBody>
          <a:bodyPr wrap="square" lIns="0" tIns="0" rIns="0" bIns="0" rtlCol="0" anchor="ctr"/>
          <a:lstStyle/>
          <a:p>
            <a:pPr indent="0" marL="0">
              <a:buNone/>
            </a:pPr>
            <a:r>
              <a:rPr lang="en-US" sz="1500" b="1" dirty="0">
                <a:solidFill>
                  <a:srgbClr val="1C2B25"/>
                </a:solidFill>
                <a:latin typeface="Calibri" pitchFamily="34" charset="0"/>
                <a:ea typeface="Calibri" pitchFamily="34" charset="-122"/>
                <a:cs typeface="Calibri" pitchFamily="34" charset="-120"/>
              </a:rPr>
              <a:t>Decision output</a:t>
            </a:r>
            <a:endParaRPr lang="en-US" sz="1500" dirty="0"/>
          </a:p>
        </p:txBody>
      </p:sp>
      <p:sp>
        <p:nvSpPr>
          <p:cNvPr id="32" name="Text 25"/>
          <p:cNvSpPr/>
          <p:nvPr/>
        </p:nvSpPr>
        <p:spPr>
          <a:xfrm>
            <a:off x="7086600" y="5559552"/>
            <a:ext cx="4480560" cy="566928"/>
          </a:xfrm>
          <a:prstGeom prst="rect">
            <a:avLst/>
          </a:prstGeom>
          <a:noFill/>
          <a:ln/>
        </p:spPr>
        <p:txBody>
          <a:bodyPr wrap="square" lIns="0" tIns="0" rIns="0" bIns="0" rtlCol="0" anchor="ctr"/>
          <a:lstStyle/>
          <a:p>
            <a:pPr indent="0" marL="0">
              <a:buNone/>
            </a:pPr>
            <a:r>
              <a:rPr lang="en-US" sz="1250" dirty="0">
                <a:solidFill>
                  <a:srgbClr val="5E6E66"/>
                </a:solidFill>
                <a:latin typeface="Calibri" pitchFamily="34" charset="0"/>
                <a:ea typeface="Calibri" pitchFamily="34" charset="-122"/>
                <a:cs typeface="Calibri" pitchFamily="34" charset="-120"/>
              </a:rPr>
              <a:t>Ranked shortlists, risks included, plus a dataset verdict page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02714E"/>
                </a:solidFill>
                <a:latin typeface="Calibri" pitchFamily="34" charset="0"/>
                <a:ea typeface="Calibri" pitchFamily="34" charset="-122"/>
                <a:cs typeface="Calibri" pitchFamily="34" charset="-120"/>
              </a:rPr>
              <a:t>PILOT RESULTS</a:t>
            </a:r>
            <a:endParaRPr lang="en-US" sz="1200" dirty="0"/>
          </a:p>
        </p:txBody>
      </p:sp>
      <p:sp>
        <p:nvSpPr>
          <p:cNvPr id="3" name="Text 1"/>
          <p:cNvSpPr/>
          <p:nvPr/>
        </p:nvSpPr>
        <p:spPr>
          <a:xfrm>
            <a:off x="548640" y="640080"/>
            <a:ext cx="11064240" cy="685800"/>
          </a:xfrm>
          <a:prstGeom prst="rect">
            <a:avLst/>
          </a:prstGeom>
          <a:noFill/>
          <a:ln/>
        </p:spPr>
        <p:txBody>
          <a:bodyPr wrap="square" lIns="0" tIns="0" rIns="0" bIns="0" rtlCol="0" anchor="ctr"/>
          <a:lstStyle/>
          <a:p>
            <a:pPr indent="0" marL="0">
              <a:buNone/>
            </a:pPr>
            <a:r>
              <a:rPr lang="en-US" sz="3200" b="1" dirty="0">
                <a:solidFill>
                  <a:srgbClr val="1C2B25"/>
                </a:solidFill>
                <a:latin typeface="Cambria" pitchFamily="34" charset="0"/>
                <a:ea typeface="Cambria" pitchFamily="34" charset="-122"/>
                <a:cs typeface="Cambria" pitchFamily="34" charset="-120"/>
              </a:rPr>
              <a:t>What it delivers today</a:t>
            </a:r>
            <a:endParaRPr lang="en-US" sz="3200" dirty="0"/>
          </a:p>
        </p:txBody>
      </p:sp>
      <p:sp>
        <p:nvSpPr>
          <p:cNvPr id="4" name="Shape 2"/>
          <p:cNvSpPr/>
          <p:nvPr/>
        </p:nvSpPr>
        <p:spPr>
          <a:xfrm>
            <a:off x="548640" y="1463040"/>
            <a:ext cx="2670048" cy="1600200"/>
          </a:xfrm>
          <a:prstGeom prst="roundRect">
            <a:avLst>
              <a:gd name="adj" fmla="val 4571"/>
            </a:avLst>
          </a:prstGeom>
          <a:solidFill>
            <a:srgbClr val="EAF3EF"/>
          </a:solidFill>
          <a:ln/>
        </p:spPr>
      </p:sp>
      <p:sp>
        <p:nvSpPr>
          <p:cNvPr id="5" name="Text 3"/>
          <p:cNvSpPr/>
          <p:nvPr/>
        </p:nvSpPr>
        <p:spPr>
          <a:xfrm>
            <a:off x="777240" y="1627632"/>
            <a:ext cx="2286000" cy="640080"/>
          </a:xfrm>
          <a:prstGeom prst="rect">
            <a:avLst/>
          </a:prstGeom>
          <a:noFill/>
          <a:ln/>
        </p:spPr>
        <p:txBody>
          <a:bodyPr wrap="square" lIns="0" tIns="0" rIns="0" bIns="0" rtlCol="0" anchor="ctr"/>
          <a:lstStyle/>
          <a:p>
            <a:pPr indent="0" marL="0">
              <a:buNone/>
            </a:pPr>
            <a:r>
              <a:rPr lang="en-US" sz="3400" b="1" dirty="0">
                <a:solidFill>
                  <a:srgbClr val="02714E"/>
                </a:solidFill>
                <a:latin typeface="Cambria" pitchFamily="34" charset="0"/>
                <a:ea typeface="Cambria" pitchFamily="34" charset="-122"/>
                <a:cs typeface="Cambria" pitchFamily="34" charset="-120"/>
              </a:rPr>
              <a:t>305</a:t>
            </a:r>
            <a:endParaRPr lang="en-US" sz="3400" dirty="0"/>
          </a:p>
        </p:txBody>
      </p:sp>
      <p:sp>
        <p:nvSpPr>
          <p:cNvPr id="6" name="Text 4"/>
          <p:cNvSpPr/>
          <p:nvPr/>
        </p:nvSpPr>
        <p:spPr>
          <a:xfrm>
            <a:off x="777240" y="2286000"/>
            <a:ext cx="2286000" cy="274320"/>
          </a:xfrm>
          <a:prstGeom prst="rect">
            <a:avLst/>
          </a:prstGeom>
          <a:noFill/>
          <a:ln/>
        </p:spPr>
        <p:txBody>
          <a:bodyPr wrap="square" lIns="0" tIns="0" rIns="0" bIns="0" rtlCol="0" anchor="ctr"/>
          <a:lstStyle/>
          <a:p>
            <a:pPr indent="0" marL="0">
              <a:buNone/>
            </a:pPr>
            <a:r>
              <a:rPr lang="en-US" sz="1300" b="1" dirty="0">
                <a:solidFill>
                  <a:srgbClr val="1C2B25"/>
                </a:solidFill>
                <a:latin typeface="Calibri" pitchFamily="34" charset="0"/>
                <a:ea typeface="Calibri" pitchFamily="34" charset="-122"/>
                <a:cs typeface="Calibri" pitchFamily="34" charset="-120"/>
              </a:rPr>
              <a:t>pairings fully assessed</a:t>
            </a:r>
            <a:endParaRPr lang="en-US" sz="1300" dirty="0"/>
          </a:p>
        </p:txBody>
      </p:sp>
      <p:sp>
        <p:nvSpPr>
          <p:cNvPr id="7" name="Text 5"/>
          <p:cNvSpPr/>
          <p:nvPr/>
        </p:nvSpPr>
        <p:spPr>
          <a:xfrm>
            <a:off x="777240" y="2560320"/>
            <a:ext cx="2286000" cy="274320"/>
          </a:xfrm>
          <a:prstGeom prst="rect">
            <a:avLst/>
          </a:prstGeom>
          <a:noFill/>
          <a:ln/>
        </p:spPr>
        <p:txBody>
          <a:bodyPr wrap="square" lIns="0" tIns="0" rIns="0" bIns="0" rtlCol="0" anchor="ctr"/>
          <a:lstStyle/>
          <a:p>
            <a:pPr indent="0" marL="0">
              <a:buNone/>
            </a:pPr>
            <a:r>
              <a:rPr lang="en-US" sz="1150" dirty="0">
                <a:solidFill>
                  <a:srgbClr val="5E6E66"/>
                </a:solidFill>
                <a:latin typeface="Calibri" pitchFamily="34" charset="0"/>
                <a:ea typeface="Calibri" pitchFamily="34" charset="-122"/>
                <a:cs typeface="Calibri" pitchFamily="34" charset="-120"/>
              </a:rPr>
              <a:t>every row AI-vetted</a:t>
            </a:r>
            <a:endParaRPr lang="en-US" sz="1150" dirty="0"/>
          </a:p>
        </p:txBody>
      </p:sp>
      <p:sp>
        <p:nvSpPr>
          <p:cNvPr id="8" name="Shape 6"/>
          <p:cNvSpPr/>
          <p:nvPr/>
        </p:nvSpPr>
        <p:spPr>
          <a:xfrm>
            <a:off x="3401568" y="1463040"/>
            <a:ext cx="2670048" cy="1600200"/>
          </a:xfrm>
          <a:prstGeom prst="roundRect">
            <a:avLst>
              <a:gd name="adj" fmla="val 4571"/>
            </a:avLst>
          </a:prstGeom>
          <a:solidFill>
            <a:srgbClr val="EAF3EF"/>
          </a:solidFill>
          <a:ln/>
        </p:spPr>
      </p:sp>
      <p:sp>
        <p:nvSpPr>
          <p:cNvPr id="9" name="Text 7"/>
          <p:cNvSpPr/>
          <p:nvPr/>
        </p:nvSpPr>
        <p:spPr>
          <a:xfrm>
            <a:off x="3630168" y="1627632"/>
            <a:ext cx="2286000" cy="640080"/>
          </a:xfrm>
          <a:prstGeom prst="rect">
            <a:avLst/>
          </a:prstGeom>
          <a:noFill/>
          <a:ln/>
        </p:spPr>
        <p:txBody>
          <a:bodyPr wrap="square" lIns="0" tIns="0" rIns="0" bIns="0" rtlCol="0" anchor="ctr"/>
          <a:lstStyle/>
          <a:p>
            <a:pPr indent="0" marL="0">
              <a:buNone/>
            </a:pPr>
            <a:r>
              <a:rPr lang="en-US" sz="3400" b="1" dirty="0">
                <a:solidFill>
                  <a:srgbClr val="02714E"/>
                </a:solidFill>
                <a:latin typeface="Cambria" pitchFamily="34" charset="0"/>
                <a:ea typeface="Cambria" pitchFamily="34" charset="-122"/>
                <a:cs typeface="Cambria" pitchFamily="34" charset="-120"/>
              </a:rPr>
              <a:t>15</a:t>
            </a:r>
            <a:endParaRPr lang="en-US" sz="3400" dirty="0"/>
          </a:p>
        </p:txBody>
      </p:sp>
      <p:sp>
        <p:nvSpPr>
          <p:cNvPr id="10" name="Text 8"/>
          <p:cNvSpPr/>
          <p:nvPr/>
        </p:nvSpPr>
        <p:spPr>
          <a:xfrm>
            <a:off x="3630168" y="2286000"/>
            <a:ext cx="2286000" cy="274320"/>
          </a:xfrm>
          <a:prstGeom prst="rect">
            <a:avLst/>
          </a:prstGeom>
          <a:noFill/>
          <a:ln/>
        </p:spPr>
        <p:txBody>
          <a:bodyPr wrap="square" lIns="0" tIns="0" rIns="0" bIns="0" rtlCol="0" anchor="ctr"/>
          <a:lstStyle/>
          <a:p>
            <a:pPr indent="0" marL="0">
              <a:buNone/>
            </a:pPr>
            <a:r>
              <a:rPr lang="en-US" sz="1300" b="1" dirty="0">
                <a:solidFill>
                  <a:srgbClr val="1C2B25"/>
                </a:solidFill>
                <a:latin typeface="Calibri" pitchFamily="34" charset="0"/>
                <a:ea typeface="Calibri" pitchFamily="34" charset="-122"/>
                <a:cs typeface="Calibri" pitchFamily="34" charset="-120"/>
              </a:rPr>
              <a:t>vetted leads</a:t>
            </a:r>
            <a:endParaRPr lang="en-US" sz="1300" dirty="0"/>
          </a:p>
        </p:txBody>
      </p:sp>
      <p:sp>
        <p:nvSpPr>
          <p:cNvPr id="11" name="Text 9"/>
          <p:cNvSpPr/>
          <p:nvPr/>
        </p:nvSpPr>
        <p:spPr>
          <a:xfrm>
            <a:off x="3630168" y="2560320"/>
            <a:ext cx="2286000" cy="274320"/>
          </a:xfrm>
          <a:prstGeom prst="rect">
            <a:avLst/>
          </a:prstGeom>
          <a:noFill/>
          <a:ln/>
        </p:spPr>
        <p:txBody>
          <a:bodyPr wrap="square" lIns="0" tIns="0" rIns="0" bIns="0" rtlCol="0" anchor="ctr"/>
          <a:lstStyle/>
          <a:p>
            <a:pPr indent="0" marL="0">
              <a:buNone/>
            </a:pPr>
            <a:r>
              <a:rPr lang="en-US" sz="1150" dirty="0">
                <a:solidFill>
                  <a:srgbClr val="5E6E66"/>
                </a:solidFill>
                <a:latin typeface="Calibri" pitchFamily="34" charset="0"/>
                <a:ea typeface="Calibri" pitchFamily="34" charset="-122"/>
                <a:cs typeface="Calibri" pitchFamily="34" charset="-120"/>
              </a:rPr>
              <a:t>2 excellent, 13 strong</a:t>
            </a:r>
            <a:endParaRPr lang="en-US" sz="1150" dirty="0"/>
          </a:p>
        </p:txBody>
      </p:sp>
      <p:sp>
        <p:nvSpPr>
          <p:cNvPr id="12" name="Shape 10"/>
          <p:cNvSpPr/>
          <p:nvPr/>
        </p:nvSpPr>
        <p:spPr>
          <a:xfrm>
            <a:off x="6254496" y="1463040"/>
            <a:ext cx="2670048" cy="1600200"/>
          </a:xfrm>
          <a:prstGeom prst="roundRect">
            <a:avLst>
              <a:gd name="adj" fmla="val 4571"/>
            </a:avLst>
          </a:prstGeom>
          <a:solidFill>
            <a:srgbClr val="EAF3EF"/>
          </a:solidFill>
          <a:ln/>
        </p:spPr>
      </p:sp>
      <p:sp>
        <p:nvSpPr>
          <p:cNvPr id="13" name="Text 11"/>
          <p:cNvSpPr/>
          <p:nvPr/>
        </p:nvSpPr>
        <p:spPr>
          <a:xfrm>
            <a:off x="6483096" y="1627632"/>
            <a:ext cx="2286000" cy="640080"/>
          </a:xfrm>
          <a:prstGeom prst="rect">
            <a:avLst/>
          </a:prstGeom>
          <a:noFill/>
          <a:ln/>
        </p:spPr>
        <p:txBody>
          <a:bodyPr wrap="square" lIns="0" tIns="0" rIns="0" bIns="0" rtlCol="0" anchor="ctr"/>
          <a:lstStyle/>
          <a:p>
            <a:pPr indent="0" marL="0">
              <a:buNone/>
            </a:pPr>
            <a:r>
              <a:rPr lang="en-US" sz="3400" b="1" dirty="0">
                <a:solidFill>
                  <a:srgbClr val="02714E"/>
                </a:solidFill>
                <a:latin typeface="Cambria" pitchFamily="34" charset="0"/>
                <a:ea typeface="Cambria" pitchFamily="34" charset="-122"/>
                <a:cs typeface="Cambria" pitchFamily="34" charset="-120"/>
              </a:rPr>
              <a:t>8</a:t>
            </a:r>
            <a:endParaRPr lang="en-US" sz="3400" dirty="0"/>
          </a:p>
        </p:txBody>
      </p:sp>
      <p:sp>
        <p:nvSpPr>
          <p:cNvPr id="14" name="Text 12"/>
          <p:cNvSpPr/>
          <p:nvPr/>
        </p:nvSpPr>
        <p:spPr>
          <a:xfrm>
            <a:off x="6483096" y="2286000"/>
            <a:ext cx="2286000" cy="274320"/>
          </a:xfrm>
          <a:prstGeom prst="rect">
            <a:avLst/>
          </a:prstGeom>
          <a:noFill/>
          <a:ln/>
        </p:spPr>
        <p:txBody>
          <a:bodyPr wrap="square" lIns="0" tIns="0" rIns="0" bIns="0" rtlCol="0" anchor="ctr"/>
          <a:lstStyle/>
          <a:p>
            <a:pPr indent="0" marL="0">
              <a:buNone/>
            </a:pPr>
            <a:r>
              <a:rPr lang="en-US" sz="1300" b="1" dirty="0">
                <a:solidFill>
                  <a:srgbClr val="1C2B25"/>
                </a:solidFill>
                <a:latin typeface="Calibri" pitchFamily="34" charset="0"/>
                <a:ea typeface="Calibri" pitchFamily="34" charset="-122"/>
                <a:cs typeface="Calibri" pitchFamily="34" charset="-120"/>
              </a:rPr>
              <a:t>companies to engage</a:t>
            </a:r>
            <a:endParaRPr lang="en-US" sz="1300" dirty="0"/>
          </a:p>
        </p:txBody>
      </p:sp>
      <p:sp>
        <p:nvSpPr>
          <p:cNvPr id="15" name="Text 13"/>
          <p:cNvSpPr/>
          <p:nvPr/>
        </p:nvSpPr>
        <p:spPr>
          <a:xfrm>
            <a:off x="6483096" y="2560320"/>
            <a:ext cx="2286000" cy="274320"/>
          </a:xfrm>
          <a:prstGeom prst="rect">
            <a:avLst/>
          </a:prstGeom>
          <a:noFill/>
          <a:ln/>
        </p:spPr>
        <p:txBody>
          <a:bodyPr wrap="square" lIns="0" tIns="0" rIns="0" bIns="0" rtlCol="0" anchor="ctr"/>
          <a:lstStyle/>
          <a:p>
            <a:pPr indent="0" marL="0">
              <a:buNone/>
            </a:pPr>
            <a:r>
              <a:rPr lang="en-US" sz="1150" dirty="0">
                <a:solidFill>
                  <a:srgbClr val="5E6E66"/>
                </a:solidFill>
                <a:latin typeface="Calibri" pitchFamily="34" charset="0"/>
                <a:ea typeface="Calibri" pitchFamily="34" charset="-122"/>
                <a:cs typeface="Calibri" pitchFamily="34" charset="-120"/>
              </a:rPr>
              <a:t>concentrated, honest pipeline</a:t>
            </a:r>
            <a:endParaRPr lang="en-US" sz="1150" dirty="0"/>
          </a:p>
        </p:txBody>
      </p:sp>
      <p:sp>
        <p:nvSpPr>
          <p:cNvPr id="16" name="Shape 14"/>
          <p:cNvSpPr/>
          <p:nvPr/>
        </p:nvSpPr>
        <p:spPr>
          <a:xfrm>
            <a:off x="9107424" y="1463040"/>
            <a:ext cx="2670048" cy="1600200"/>
          </a:xfrm>
          <a:prstGeom prst="roundRect">
            <a:avLst>
              <a:gd name="adj" fmla="val 4571"/>
            </a:avLst>
          </a:prstGeom>
          <a:solidFill>
            <a:srgbClr val="EAF3EF"/>
          </a:solidFill>
          <a:ln/>
        </p:spPr>
      </p:sp>
      <p:sp>
        <p:nvSpPr>
          <p:cNvPr id="17" name="Text 15"/>
          <p:cNvSpPr/>
          <p:nvPr/>
        </p:nvSpPr>
        <p:spPr>
          <a:xfrm>
            <a:off x="9336024" y="1627632"/>
            <a:ext cx="2286000" cy="640080"/>
          </a:xfrm>
          <a:prstGeom prst="rect">
            <a:avLst/>
          </a:prstGeom>
          <a:noFill/>
          <a:ln/>
        </p:spPr>
        <p:txBody>
          <a:bodyPr wrap="square" lIns="0" tIns="0" rIns="0" bIns="0" rtlCol="0" anchor="ctr"/>
          <a:lstStyle/>
          <a:p>
            <a:pPr indent="0" marL="0">
              <a:buNone/>
            </a:pPr>
            <a:r>
              <a:rPr lang="en-US" sz="3400" b="1" dirty="0">
                <a:solidFill>
                  <a:srgbClr val="02714E"/>
                </a:solidFill>
                <a:latin typeface="Cambria" pitchFamily="34" charset="0"/>
                <a:ea typeface="Cambria" pitchFamily="34" charset="-122"/>
                <a:cs typeface="Cambria" pitchFamily="34" charset="-120"/>
              </a:rPr>
              <a:t>49-95</a:t>
            </a:r>
            <a:endParaRPr lang="en-US" sz="3400" dirty="0"/>
          </a:p>
        </p:txBody>
      </p:sp>
      <p:sp>
        <p:nvSpPr>
          <p:cNvPr id="18" name="Text 16"/>
          <p:cNvSpPr/>
          <p:nvPr/>
        </p:nvSpPr>
        <p:spPr>
          <a:xfrm>
            <a:off x="9336024" y="2286000"/>
            <a:ext cx="2286000" cy="274320"/>
          </a:xfrm>
          <a:prstGeom prst="rect">
            <a:avLst/>
          </a:prstGeom>
          <a:noFill/>
          <a:ln/>
        </p:spPr>
        <p:txBody>
          <a:bodyPr wrap="square" lIns="0" tIns="0" rIns="0" bIns="0" rtlCol="0" anchor="ctr"/>
          <a:lstStyle/>
          <a:p>
            <a:pPr indent="0" marL="0">
              <a:buNone/>
            </a:pPr>
            <a:r>
              <a:rPr lang="en-US" sz="1300" b="1" dirty="0">
                <a:solidFill>
                  <a:srgbClr val="1C2B25"/>
                </a:solidFill>
                <a:latin typeface="Calibri" pitchFamily="34" charset="0"/>
                <a:ea typeface="Calibri" pitchFamily="34" charset="-122"/>
                <a:cs typeface="Calibri" pitchFamily="34" charset="-120"/>
              </a:rPr>
              <a:t>confidence spread</a:t>
            </a:r>
            <a:endParaRPr lang="en-US" sz="1300" dirty="0"/>
          </a:p>
        </p:txBody>
      </p:sp>
      <p:sp>
        <p:nvSpPr>
          <p:cNvPr id="19" name="Text 17"/>
          <p:cNvSpPr/>
          <p:nvPr/>
        </p:nvSpPr>
        <p:spPr>
          <a:xfrm>
            <a:off x="9336024" y="2560320"/>
            <a:ext cx="2286000" cy="274320"/>
          </a:xfrm>
          <a:prstGeom prst="rect">
            <a:avLst/>
          </a:prstGeom>
          <a:noFill/>
          <a:ln/>
        </p:spPr>
        <p:txBody>
          <a:bodyPr wrap="square" lIns="0" tIns="0" rIns="0" bIns="0" rtlCol="0" anchor="ctr"/>
          <a:lstStyle/>
          <a:p>
            <a:pPr indent="0" marL="0">
              <a:buNone/>
            </a:pPr>
            <a:r>
              <a:rPr lang="en-US" sz="1150" dirty="0">
                <a:solidFill>
                  <a:srgbClr val="5E6E66"/>
                </a:solidFill>
                <a:latin typeface="Calibri" pitchFamily="34" charset="0"/>
                <a:ea typeface="Calibri" pitchFamily="34" charset="-122"/>
                <a:cs typeface="Calibri" pitchFamily="34" charset="-120"/>
              </a:rPr>
              <a:t>doubt is visible, not hidden</a:t>
            </a:r>
            <a:endParaRPr lang="en-US" sz="1150" dirty="0"/>
          </a:p>
        </p:txBody>
      </p:sp>
      <p:sp>
        <p:nvSpPr>
          <p:cNvPr id="20" name="Text 18"/>
          <p:cNvSpPr/>
          <p:nvPr/>
        </p:nvSpPr>
        <p:spPr>
          <a:xfrm>
            <a:off x="548640" y="3429000"/>
            <a:ext cx="5760720" cy="320040"/>
          </a:xfrm>
          <a:prstGeom prst="rect">
            <a:avLst/>
          </a:prstGeom>
          <a:noFill/>
          <a:ln/>
        </p:spPr>
        <p:txBody>
          <a:bodyPr wrap="square" lIns="0" tIns="0" rIns="0" bIns="0" rtlCol="0" anchor="ctr"/>
          <a:lstStyle/>
          <a:p>
            <a:pPr indent="0" marL="0">
              <a:buNone/>
            </a:pPr>
            <a:r>
              <a:rPr lang="en-US" sz="1400" b="1" dirty="0">
                <a:solidFill>
                  <a:srgbClr val="1C2B25"/>
                </a:solidFill>
                <a:latin typeface="Calibri" pitchFamily="34" charset="0"/>
                <a:ea typeface="Calibri" pitchFamily="34" charset="-122"/>
                <a:cs typeface="Calibri" pitchFamily="34" charset="-120"/>
              </a:rPr>
              <a:t>Decision funnel: precision over recall</a:t>
            </a:r>
            <a:endParaRPr lang="en-US" sz="1400" dirty="0"/>
          </a:p>
        </p:txBody>
      </p:sp>
      <p:graphicFrame>
        <p:nvGraphicFramePr>
          <p:cNvPr id="21" name="Chart 0" descr=""/>
          <p:cNvGraphicFramePr/>
          <p:nvPr/>
        </p:nvGraphicFramePr>
        <p:xfrm>
          <a:off x="548640" y="3794760"/>
          <a:ext cx="5760720" cy="2514600"/>
        </p:xfrm>
        <a:graphic xmlns:a="http://schemas.openxmlformats.org/drawingml/2006/main">
          <a:graphicData uri="http://schemas.openxmlformats.org/drawingml/2006/chart">
            <c:chart xmlns:c="http://schemas.openxmlformats.org/drawingml/2006/chart" r:id="rId1"/>
          </a:graphicData>
        </a:graphic>
      </p:graphicFrame>
      <p:sp>
        <p:nvSpPr>
          <p:cNvPr id="22" name="Shape 19"/>
          <p:cNvSpPr/>
          <p:nvPr/>
        </p:nvSpPr>
        <p:spPr>
          <a:xfrm>
            <a:off x="6675120" y="3794760"/>
            <a:ext cx="4937760" cy="2514600"/>
          </a:xfrm>
          <a:prstGeom prst="roundRect">
            <a:avLst>
              <a:gd name="adj" fmla="val 2909"/>
            </a:avLst>
          </a:prstGeom>
          <a:solidFill>
            <a:srgbClr val="EAF3EF"/>
          </a:solidFill>
          <a:ln/>
        </p:spPr>
      </p:sp>
      <p:sp>
        <p:nvSpPr>
          <p:cNvPr id="23" name="Text 20"/>
          <p:cNvSpPr/>
          <p:nvPr/>
        </p:nvSpPr>
        <p:spPr>
          <a:xfrm>
            <a:off x="6949440" y="4005072"/>
            <a:ext cx="4480560" cy="292608"/>
          </a:xfrm>
          <a:prstGeom prst="rect">
            <a:avLst/>
          </a:prstGeom>
          <a:noFill/>
          <a:ln/>
        </p:spPr>
        <p:txBody>
          <a:bodyPr wrap="square" lIns="0" tIns="0" rIns="0" bIns="0" rtlCol="0" anchor="ctr"/>
          <a:lstStyle/>
          <a:p>
            <a:pPr indent="0" marL="0">
              <a:buNone/>
            </a:pPr>
            <a:r>
              <a:rPr lang="en-US" sz="1300" b="1" dirty="0">
                <a:solidFill>
                  <a:srgbClr val="02714E"/>
                </a:solidFill>
                <a:latin typeface="Calibri" pitchFamily="34" charset="0"/>
                <a:ea typeface="Calibri" pitchFamily="34" charset="-122"/>
                <a:cs typeface="Calibri" pitchFamily="34" charset="-120"/>
              </a:rPr>
              <a:t>How to read a row</a:t>
            </a:r>
            <a:endParaRPr lang="en-US" sz="1300" dirty="0"/>
          </a:p>
        </p:txBody>
      </p:sp>
      <p:sp>
        <p:nvSpPr>
          <p:cNvPr id="24" name="Text 21"/>
          <p:cNvSpPr/>
          <p:nvPr/>
        </p:nvSpPr>
        <p:spPr>
          <a:xfrm>
            <a:off x="6949440" y="4370832"/>
            <a:ext cx="4480560" cy="292608"/>
          </a:xfrm>
          <a:prstGeom prst="rect">
            <a:avLst/>
          </a:prstGeom>
          <a:noFill/>
          <a:ln/>
        </p:spPr>
        <p:txBody>
          <a:bodyPr wrap="square" lIns="0" tIns="0" rIns="0" bIns="0" rtlCol="0" anchor="ctr"/>
          <a:lstStyle/>
          <a:p>
            <a:pPr indent="0" marL="0">
              <a:buNone/>
            </a:pPr>
            <a:r>
              <a:rPr lang="en-US" sz="1250" b="1" dirty="0">
                <a:solidFill>
                  <a:srgbClr val="1C2B25"/>
                </a:solidFill>
                <a:latin typeface="Calibri" pitchFamily="34" charset="0"/>
                <a:ea typeface="Calibri" pitchFamily="34" charset="-122"/>
                <a:cs typeface="Calibri" pitchFamily="34" charset="-120"/>
              </a:rPr>
              <a:t>Decision</a:t>
            </a:r>
            <a:pPr indent="0" marL="0">
              <a:buNone/>
            </a:pPr>
            <a:r>
              <a:rPr lang="en-US" sz="1250" dirty="0">
                <a:solidFill>
                  <a:srgbClr val="5E6E66"/>
                </a:solidFill>
                <a:latin typeface="Calibri" pitchFamily="34" charset="0"/>
                <a:ea typeface="Calibri" pitchFamily="34" charset="-122"/>
                <a:cs typeface="Calibri" pitchFamily="34" charset="-120"/>
              </a:rPr>
              <a:t>  how good the fit is (six tiers)</a:t>
            </a:r>
            <a:endParaRPr lang="en-US" sz="1250" dirty="0"/>
          </a:p>
        </p:txBody>
      </p:sp>
      <p:sp>
        <p:nvSpPr>
          <p:cNvPr id="25" name="Text 22"/>
          <p:cNvSpPr/>
          <p:nvPr/>
        </p:nvSpPr>
        <p:spPr>
          <a:xfrm>
            <a:off x="6949440" y="4700016"/>
            <a:ext cx="4480560" cy="292608"/>
          </a:xfrm>
          <a:prstGeom prst="rect">
            <a:avLst/>
          </a:prstGeom>
          <a:noFill/>
          <a:ln/>
        </p:spPr>
        <p:txBody>
          <a:bodyPr wrap="square" lIns="0" tIns="0" rIns="0" bIns="0" rtlCol="0" anchor="ctr"/>
          <a:lstStyle/>
          <a:p>
            <a:pPr indent="0" marL="0">
              <a:buNone/>
            </a:pPr>
            <a:r>
              <a:rPr lang="en-US" sz="1250" b="1" dirty="0">
                <a:solidFill>
                  <a:srgbClr val="1C2B25"/>
                </a:solidFill>
                <a:latin typeface="Calibri" pitchFamily="34" charset="0"/>
                <a:ea typeface="Calibri" pitchFamily="34" charset="-122"/>
                <a:cs typeface="Calibri" pitchFamily="34" charset="-120"/>
              </a:rPr>
              <a:t>Match type</a:t>
            </a:r>
            <a:pPr indent="0" marL="0">
              <a:buNone/>
            </a:pPr>
            <a:r>
              <a:rPr lang="en-US" sz="1250" dirty="0">
                <a:solidFill>
                  <a:srgbClr val="5E6E66"/>
                </a:solidFill>
                <a:latin typeface="Calibri" pitchFamily="34" charset="0"/>
                <a:ea typeface="Calibri" pitchFamily="34" charset="-122"/>
                <a:cs typeface="Calibri" pitchFamily="34" charset="-120"/>
              </a:rPr>
              <a:t>  what the fit is: anchor, JV partner, supplier</a:t>
            </a:r>
            <a:endParaRPr lang="en-US" sz="1250" dirty="0"/>
          </a:p>
        </p:txBody>
      </p:sp>
      <p:sp>
        <p:nvSpPr>
          <p:cNvPr id="26" name="Text 23"/>
          <p:cNvSpPr/>
          <p:nvPr/>
        </p:nvSpPr>
        <p:spPr>
          <a:xfrm>
            <a:off x="6949440" y="5029200"/>
            <a:ext cx="4480560" cy="292608"/>
          </a:xfrm>
          <a:prstGeom prst="rect">
            <a:avLst/>
          </a:prstGeom>
          <a:noFill/>
          <a:ln/>
        </p:spPr>
        <p:txBody>
          <a:bodyPr wrap="square" lIns="0" tIns="0" rIns="0" bIns="0" rtlCol="0" anchor="ctr"/>
          <a:lstStyle/>
          <a:p>
            <a:pPr indent="0" marL="0">
              <a:buNone/>
            </a:pPr>
            <a:r>
              <a:rPr lang="en-US" sz="1250" b="1" dirty="0">
                <a:solidFill>
                  <a:srgbClr val="1C2B25"/>
                </a:solidFill>
                <a:latin typeface="Calibri" pitchFamily="34" charset="0"/>
                <a:ea typeface="Calibri" pitchFamily="34" charset="-122"/>
                <a:cs typeface="Calibri" pitchFamily="34" charset="-120"/>
              </a:rPr>
              <a:t>Rank</a:t>
            </a:r>
            <a:pPr indent="0" marL="0">
              <a:buNone/>
            </a:pPr>
            <a:r>
              <a:rPr lang="en-US" sz="1250" dirty="0">
                <a:solidFill>
                  <a:srgbClr val="5E6E66"/>
                </a:solidFill>
                <a:latin typeface="Calibri" pitchFamily="34" charset="0"/>
                <a:ea typeface="Calibri" pitchFamily="34" charset="-122"/>
                <a:cs typeface="Calibri" pitchFamily="34" charset="-120"/>
              </a:rPr>
              <a:t>  pursue priority inside each opportunity</a:t>
            </a:r>
            <a:endParaRPr lang="en-US" sz="1250" dirty="0"/>
          </a:p>
        </p:txBody>
      </p:sp>
      <p:sp>
        <p:nvSpPr>
          <p:cNvPr id="27" name="Text 24"/>
          <p:cNvSpPr/>
          <p:nvPr/>
        </p:nvSpPr>
        <p:spPr>
          <a:xfrm>
            <a:off x="6949440" y="5358384"/>
            <a:ext cx="4480560" cy="365760"/>
          </a:xfrm>
          <a:prstGeom prst="rect">
            <a:avLst/>
          </a:prstGeom>
          <a:noFill/>
          <a:ln/>
        </p:spPr>
        <p:txBody>
          <a:bodyPr wrap="square" lIns="0" tIns="0" rIns="0" bIns="0" rtlCol="0" anchor="ctr"/>
          <a:lstStyle/>
          <a:p>
            <a:pPr indent="0" marL="0">
              <a:buNone/>
            </a:pPr>
            <a:r>
              <a:rPr lang="en-US" sz="1250" b="1" dirty="0">
                <a:solidFill>
                  <a:srgbClr val="1C2B25"/>
                </a:solidFill>
                <a:latin typeface="Calibri" pitchFamily="34" charset="0"/>
                <a:ea typeface="Calibri" pitchFamily="34" charset="-122"/>
                <a:cs typeface="Calibri" pitchFamily="34" charset="-120"/>
              </a:rPr>
              <a:t>Confidence</a:t>
            </a:r>
            <a:pPr indent="0" marL="0">
              <a:buNone/>
            </a:pPr>
            <a:r>
              <a:rPr lang="en-US" sz="1250" dirty="0">
                <a:solidFill>
                  <a:srgbClr val="5E6E66"/>
                </a:solidFill>
                <a:latin typeface="Calibri" pitchFamily="34" charset="0"/>
                <a:ea typeface="Calibri" pitchFamily="34" charset="-122"/>
                <a:cs typeface="Calibri" pitchFamily="34" charset="-120"/>
              </a:rPr>
              <a:t>  deducts for cross-sector inference and penalties</a:t>
            </a:r>
            <a:endParaRPr lang="en-US" sz="1250" dirty="0"/>
          </a:p>
        </p:txBody>
      </p:sp>
      <p:sp>
        <p:nvSpPr>
          <p:cNvPr id="28" name="Text 25"/>
          <p:cNvSpPr/>
          <p:nvPr/>
        </p:nvSpPr>
        <p:spPr>
          <a:xfrm>
            <a:off x="6949440" y="5760720"/>
            <a:ext cx="4480560" cy="457200"/>
          </a:xfrm>
          <a:prstGeom prst="rect">
            <a:avLst/>
          </a:prstGeom>
          <a:noFill/>
          <a:ln/>
        </p:spPr>
        <p:txBody>
          <a:bodyPr wrap="square" lIns="0" tIns="0" rIns="0" bIns="0" rtlCol="0" anchor="ctr"/>
          <a:lstStyle/>
          <a:p>
            <a:pPr indent="0" marL="0">
              <a:buNone/>
            </a:pPr>
            <a:r>
              <a:rPr lang="en-US" sz="1150" i="1" dirty="0">
                <a:solidFill>
                  <a:srgbClr val="5E6E66"/>
                </a:solidFill>
                <a:latin typeface="Calibri" pitchFamily="34" charset="0"/>
                <a:ea typeface="Calibri" pitchFamily="34" charset="-122"/>
                <a:cs typeface="Calibri" pitchFamily="34" charset="-120"/>
              </a:rPr>
              <a:t>Strengths, risks, engagement plan and executive summary accompany every lead.</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02714E"/>
                </a:solidFill>
                <a:latin typeface="Calibri" pitchFamily="34" charset="0"/>
                <a:ea typeface="Calibri" pitchFamily="34" charset="-122"/>
                <a:cs typeface="Calibri" pitchFamily="34" charset="-120"/>
              </a:rPr>
              <a:t>TRUST ARCHITECTURE</a:t>
            </a:r>
            <a:endParaRPr lang="en-US" sz="1200" dirty="0"/>
          </a:p>
        </p:txBody>
      </p:sp>
      <p:sp>
        <p:nvSpPr>
          <p:cNvPr id="3" name="Text 1"/>
          <p:cNvSpPr/>
          <p:nvPr/>
        </p:nvSpPr>
        <p:spPr>
          <a:xfrm>
            <a:off x="548640" y="640080"/>
            <a:ext cx="11064240" cy="685800"/>
          </a:xfrm>
          <a:prstGeom prst="rect">
            <a:avLst/>
          </a:prstGeom>
          <a:noFill/>
          <a:ln/>
        </p:spPr>
        <p:txBody>
          <a:bodyPr wrap="square" lIns="0" tIns="0" rIns="0" bIns="0" rtlCol="0" anchor="ctr"/>
          <a:lstStyle/>
          <a:p>
            <a:pPr indent="0" marL="0">
              <a:buNone/>
            </a:pPr>
            <a:r>
              <a:rPr lang="en-US" sz="3200" b="1" dirty="0">
                <a:solidFill>
                  <a:srgbClr val="1C2B25"/>
                </a:solidFill>
                <a:latin typeface="Cambria" pitchFamily="34" charset="0"/>
                <a:ea typeface="Cambria" pitchFamily="34" charset="-122"/>
                <a:cs typeface="Cambria" pitchFamily="34" charset="-120"/>
              </a:rPr>
              <a:t>Engineered for honesty</a:t>
            </a:r>
            <a:endParaRPr lang="en-US" sz="3200" dirty="0"/>
          </a:p>
        </p:txBody>
      </p:sp>
      <p:sp>
        <p:nvSpPr>
          <p:cNvPr id="4" name="Shape 2"/>
          <p:cNvSpPr/>
          <p:nvPr/>
        </p:nvSpPr>
        <p:spPr>
          <a:xfrm>
            <a:off x="548640" y="1554480"/>
            <a:ext cx="5440680" cy="2103120"/>
          </a:xfrm>
          <a:prstGeom prst="roundRect">
            <a:avLst>
              <a:gd name="adj" fmla="val 3478"/>
            </a:avLst>
          </a:prstGeom>
          <a:solidFill>
            <a:srgbClr val="EAF3EF"/>
          </a:solidFill>
          <a:ln/>
        </p:spPr>
      </p:sp>
      <p:sp>
        <p:nvSpPr>
          <p:cNvPr id="5" name="Shape 3"/>
          <p:cNvSpPr/>
          <p:nvPr/>
        </p:nvSpPr>
        <p:spPr>
          <a:xfrm>
            <a:off x="822960" y="1847088"/>
            <a:ext cx="603504" cy="603504"/>
          </a:xfrm>
          <a:prstGeom prst="ellipse">
            <a:avLst/>
          </a:prstGeom>
          <a:solidFill>
            <a:srgbClr val="02714E"/>
          </a:solidFill>
          <a:ln/>
        </p:spPr>
      </p:sp>
      <p:pic>
        <p:nvPicPr>
          <p:cNvPr id="6" name="Image 0" descr="preencoded.png">    </p:cNvPr>
          <p:cNvPicPr>
            <a:picLocks noChangeAspect="1"/>
          </p:cNvPicPr>
          <p:nvPr/>
        </p:nvPicPr>
        <p:blipFill>
          <a:blip r:embed="rId1"/>
          <a:stretch>
            <a:fillRect/>
          </a:stretch>
        </p:blipFill>
        <p:spPr>
          <a:xfrm>
            <a:off x="979871" y="2003999"/>
            <a:ext cx="289682" cy="289682"/>
          </a:xfrm>
          <a:prstGeom prst="rect">
            <a:avLst/>
          </a:prstGeom>
        </p:spPr>
      </p:pic>
      <p:sp>
        <p:nvSpPr>
          <p:cNvPr id="7" name="Text 4"/>
          <p:cNvSpPr/>
          <p:nvPr/>
        </p:nvSpPr>
        <p:spPr>
          <a:xfrm>
            <a:off x="1645920" y="1874520"/>
            <a:ext cx="4114800" cy="365760"/>
          </a:xfrm>
          <a:prstGeom prst="rect">
            <a:avLst/>
          </a:prstGeom>
          <a:noFill/>
          <a:ln/>
        </p:spPr>
        <p:txBody>
          <a:bodyPr wrap="square" lIns="0" tIns="0" rIns="0" bIns="0" rtlCol="0" anchor="ctr"/>
          <a:lstStyle/>
          <a:p>
            <a:pPr indent="0" marL="0">
              <a:buNone/>
            </a:pPr>
            <a:r>
              <a:rPr lang="en-US" sz="1600" b="1" dirty="0">
                <a:solidFill>
                  <a:srgbClr val="1C2B25"/>
                </a:solidFill>
                <a:latin typeface="Calibri" pitchFamily="34" charset="0"/>
                <a:ea typeface="Calibri" pitchFamily="34" charset="-122"/>
                <a:cs typeface="Calibri" pitchFamily="34" charset="-120"/>
              </a:rPr>
              <a:t>It says no</a:t>
            </a:r>
            <a:endParaRPr lang="en-US" sz="1600" dirty="0"/>
          </a:p>
        </p:txBody>
      </p:sp>
      <p:sp>
        <p:nvSpPr>
          <p:cNvPr id="8" name="Text 5"/>
          <p:cNvSpPr/>
          <p:nvPr/>
        </p:nvSpPr>
        <p:spPr>
          <a:xfrm>
            <a:off x="1645920" y="2286000"/>
            <a:ext cx="4114800" cy="1188720"/>
          </a:xfrm>
          <a:prstGeom prst="rect">
            <a:avLst/>
          </a:prstGeom>
          <a:noFill/>
          <a:ln/>
        </p:spPr>
        <p:txBody>
          <a:bodyPr wrap="square" lIns="0" tIns="0" rIns="0" bIns="0" rtlCol="0" anchor="ctr"/>
          <a:lstStyle/>
          <a:p>
            <a:pPr indent="0" marL="0">
              <a:buNone/>
            </a:pPr>
            <a:r>
              <a:rPr lang="en-US" sz="1300" dirty="0">
                <a:solidFill>
                  <a:srgbClr val="5E6E66"/>
                </a:solidFill>
                <a:latin typeface="Calibri" pitchFamily="34" charset="0"/>
                <a:ea typeface="Calibri" pitchFamily="34" charset="-122"/>
                <a:cs typeface="Calibri" pitchFamily="34" charset="-120"/>
              </a:rPr>
              <a:t>3 of 12 opportunities report “no viable target in current universe” instead of promoting the least-bad option.</a:t>
            </a:r>
            <a:endParaRPr lang="en-US" sz="1300" dirty="0"/>
          </a:p>
        </p:txBody>
      </p:sp>
      <p:sp>
        <p:nvSpPr>
          <p:cNvPr id="9" name="Shape 6"/>
          <p:cNvSpPr/>
          <p:nvPr/>
        </p:nvSpPr>
        <p:spPr>
          <a:xfrm>
            <a:off x="6263640" y="1554480"/>
            <a:ext cx="5440680" cy="2103120"/>
          </a:xfrm>
          <a:prstGeom prst="roundRect">
            <a:avLst>
              <a:gd name="adj" fmla="val 3478"/>
            </a:avLst>
          </a:prstGeom>
          <a:solidFill>
            <a:srgbClr val="EAF3EF"/>
          </a:solidFill>
          <a:ln/>
        </p:spPr>
      </p:sp>
      <p:sp>
        <p:nvSpPr>
          <p:cNvPr id="10" name="Shape 7"/>
          <p:cNvSpPr/>
          <p:nvPr/>
        </p:nvSpPr>
        <p:spPr>
          <a:xfrm>
            <a:off x="6537960" y="1847088"/>
            <a:ext cx="603504" cy="603504"/>
          </a:xfrm>
          <a:prstGeom prst="ellipse">
            <a:avLst/>
          </a:prstGeom>
          <a:solidFill>
            <a:srgbClr val="02714E"/>
          </a:solidFill>
          <a:ln/>
        </p:spPr>
      </p:sp>
      <p:pic>
        <p:nvPicPr>
          <p:cNvPr id="11" name="Image 1" descr="preencoded.png">    </p:cNvPr>
          <p:cNvPicPr>
            <a:picLocks noChangeAspect="1"/>
          </p:cNvPicPr>
          <p:nvPr/>
        </p:nvPicPr>
        <p:blipFill>
          <a:blip r:embed="rId2"/>
          <a:stretch>
            <a:fillRect/>
          </a:stretch>
        </p:blipFill>
        <p:spPr>
          <a:xfrm>
            <a:off x="6694871" y="2003999"/>
            <a:ext cx="289682" cy="289682"/>
          </a:xfrm>
          <a:prstGeom prst="rect">
            <a:avLst/>
          </a:prstGeom>
        </p:spPr>
      </p:pic>
      <p:sp>
        <p:nvSpPr>
          <p:cNvPr id="12" name="Text 8"/>
          <p:cNvSpPr/>
          <p:nvPr/>
        </p:nvSpPr>
        <p:spPr>
          <a:xfrm>
            <a:off x="7360920" y="1874520"/>
            <a:ext cx="4114800" cy="365760"/>
          </a:xfrm>
          <a:prstGeom prst="rect">
            <a:avLst/>
          </a:prstGeom>
          <a:noFill/>
          <a:ln/>
        </p:spPr>
        <p:txBody>
          <a:bodyPr wrap="square" lIns="0" tIns="0" rIns="0" bIns="0" rtlCol="0" anchor="ctr"/>
          <a:lstStyle/>
          <a:p>
            <a:pPr indent="0" marL="0">
              <a:buNone/>
            </a:pPr>
            <a:r>
              <a:rPr lang="en-US" sz="1600" b="1" dirty="0">
                <a:solidFill>
                  <a:srgbClr val="1C2B25"/>
                </a:solidFill>
                <a:latin typeface="Calibri" pitchFamily="34" charset="0"/>
                <a:ea typeface="Calibri" pitchFamily="34" charset="-122"/>
                <a:cs typeface="Calibri" pitchFamily="34" charset="-120"/>
              </a:rPr>
              <a:t>Balanced by construction</a:t>
            </a:r>
            <a:endParaRPr lang="en-US" sz="1600" dirty="0"/>
          </a:p>
        </p:txBody>
      </p:sp>
      <p:sp>
        <p:nvSpPr>
          <p:cNvPr id="13" name="Text 9"/>
          <p:cNvSpPr/>
          <p:nvPr/>
        </p:nvSpPr>
        <p:spPr>
          <a:xfrm>
            <a:off x="7360920" y="2286000"/>
            <a:ext cx="4114800" cy="1188720"/>
          </a:xfrm>
          <a:prstGeom prst="rect">
            <a:avLst/>
          </a:prstGeom>
          <a:noFill/>
          <a:ln/>
        </p:spPr>
        <p:txBody>
          <a:bodyPr wrap="square" lIns="0" tIns="0" rIns="0" bIns="0" rtlCol="0" anchor="ctr"/>
          <a:lstStyle/>
          <a:p>
            <a:pPr indent="0" marL="0">
              <a:buNone/>
            </a:pPr>
            <a:r>
              <a:rPr lang="en-US" sz="1300" dirty="0">
                <a:solidFill>
                  <a:srgbClr val="5E6E66"/>
                </a:solidFill>
                <a:latin typeface="Calibri" pitchFamily="34" charset="0"/>
                <a:ea typeface="Calibri" pitchFamily="34" charset="-122"/>
                <a:cs typeface="Calibri" pitchFamily="34" charset="-120"/>
              </a:rPr>
              <a:t>Every lead ships with named risks and missing capabilities, not only the sales case.</a:t>
            </a:r>
            <a:endParaRPr lang="en-US" sz="1300" dirty="0"/>
          </a:p>
        </p:txBody>
      </p:sp>
      <p:sp>
        <p:nvSpPr>
          <p:cNvPr id="14" name="Shape 10"/>
          <p:cNvSpPr/>
          <p:nvPr/>
        </p:nvSpPr>
        <p:spPr>
          <a:xfrm>
            <a:off x="548640" y="3886200"/>
            <a:ext cx="5440680" cy="2103120"/>
          </a:xfrm>
          <a:prstGeom prst="roundRect">
            <a:avLst>
              <a:gd name="adj" fmla="val 3478"/>
            </a:avLst>
          </a:prstGeom>
          <a:solidFill>
            <a:srgbClr val="EAF3EF"/>
          </a:solidFill>
          <a:ln/>
        </p:spPr>
      </p:sp>
      <p:sp>
        <p:nvSpPr>
          <p:cNvPr id="15" name="Shape 11"/>
          <p:cNvSpPr/>
          <p:nvPr/>
        </p:nvSpPr>
        <p:spPr>
          <a:xfrm>
            <a:off x="822960" y="4178808"/>
            <a:ext cx="603504" cy="603504"/>
          </a:xfrm>
          <a:prstGeom prst="ellipse">
            <a:avLst/>
          </a:prstGeom>
          <a:solidFill>
            <a:srgbClr val="02714E"/>
          </a:solidFill>
          <a:ln/>
        </p:spPr>
      </p:sp>
      <p:pic>
        <p:nvPicPr>
          <p:cNvPr id="16" name="Image 2" descr="preencoded.png">    </p:cNvPr>
          <p:cNvPicPr>
            <a:picLocks noChangeAspect="1"/>
          </p:cNvPicPr>
          <p:nvPr/>
        </p:nvPicPr>
        <p:blipFill>
          <a:blip r:embed="rId3"/>
          <a:stretch>
            <a:fillRect/>
          </a:stretch>
        </p:blipFill>
        <p:spPr>
          <a:xfrm>
            <a:off x="979871" y="4335719"/>
            <a:ext cx="289682" cy="289682"/>
          </a:xfrm>
          <a:prstGeom prst="rect">
            <a:avLst/>
          </a:prstGeom>
        </p:spPr>
      </p:pic>
      <p:sp>
        <p:nvSpPr>
          <p:cNvPr id="17" name="Text 12"/>
          <p:cNvSpPr/>
          <p:nvPr/>
        </p:nvSpPr>
        <p:spPr>
          <a:xfrm>
            <a:off x="1645920" y="4206240"/>
            <a:ext cx="4114800" cy="365760"/>
          </a:xfrm>
          <a:prstGeom prst="rect">
            <a:avLst/>
          </a:prstGeom>
          <a:noFill/>
          <a:ln/>
        </p:spPr>
        <p:txBody>
          <a:bodyPr wrap="square" lIns="0" tIns="0" rIns="0" bIns="0" rtlCol="0" anchor="ctr"/>
          <a:lstStyle/>
          <a:p>
            <a:pPr indent="0" marL="0">
              <a:buNone/>
            </a:pPr>
            <a:r>
              <a:rPr lang="en-US" sz="1600" b="1" dirty="0">
                <a:solidFill>
                  <a:srgbClr val="1C2B25"/>
                </a:solidFill>
                <a:latin typeface="Calibri" pitchFamily="34" charset="0"/>
                <a:ea typeface="Calibri" pitchFamily="34" charset="-122"/>
                <a:cs typeface="Calibri" pitchFamily="34" charset="-120"/>
              </a:rPr>
              <a:t>Independently verified</a:t>
            </a:r>
            <a:endParaRPr lang="en-US" sz="1600" dirty="0"/>
          </a:p>
        </p:txBody>
      </p:sp>
      <p:sp>
        <p:nvSpPr>
          <p:cNvPr id="18" name="Text 13"/>
          <p:cNvSpPr/>
          <p:nvPr/>
        </p:nvSpPr>
        <p:spPr>
          <a:xfrm>
            <a:off x="1645920" y="4617720"/>
            <a:ext cx="4114800" cy="1188720"/>
          </a:xfrm>
          <a:prstGeom prst="rect">
            <a:avLst/>
          </a:prstGeom>
          <a:noFill/>
          <a:ln/>
        </p:spPr>
        <p:txBody>
          <a:bodyPr wrap="square" lIns="0" tIns="0" rIns="0" bIns="0" rtlCol="0" anchor="ctr"/>
          <a:lstStyle/>
          <a:p>
            <a:pPr indent="0" marL="0">
              <a:buNone/>
            </a:pPr>
            <a:r>
              <a:rPr lang="en-US" sz="1300" dirty="0">
                <a:solidFill>
                  <a:srgbClr val="5E6E66"/>
                </a:solidFill>
                <a:latin typeface="Calibri" pitchFamily="34" charset="0"/>
                <a:ea typeface="Calibri" pitchFamily="34" charset="-122"/>
                <a:cs typeface="Calibri" pitchFamily="34" charset="-120"/>
              </a:rPr>
              <a:t>A separate verifier recomputes all 8 logic layers from source data on every run. Current status: zero mismatches.</a:t>
            </a:r>
            <a:endParaRPr lang="en-US" sz="1300" dirty="0"/>
          </a:p>
        </p:txBody>
      </p:sp>
      <p:sp>
        <p:nvSpPr>
          <p:cNvPr id="19" name="Shape 14"/>
          <p:cNvSpPr/>
          <p:nvPr/>
        </p:nvSpPr>
        <p:spPr>
          <a:xfrm>
            <a:off x="6263640" y="3886200"/>
            <a:ext cx="5440680" cy="2103120"/>
          </a:xfrm>
          <a:prstGeom prst="roundRect">
            <a:avLst>
              <a:gd name="adj" fmla="val 3478"/>
            </a:avLst>
          </a:prstGeom>
          <a:solidFill>
            <a:srgbClr val="EAF3EF"/>
          </a:solidFill>
          <a:ln/>
        </p:spPr>
      </p:sp>
      <p:sp>
        <p:nvSpPr>
          <p:cNvPr id="20" name="Shape 15"/>
          <p:cNvSpPr/>
          <p:nvPr/>
        </p:nvSpPr>
        <p:spPr>
          <a:xfrm>
            <a:off x="6537960" y="4178808"/>
            <a:ext cx="603504" cy="603504"/>
          </a:xfrm>
          <a:prstGeom prst="ellipse">
            <a:avLst/>
          </a:prstGeom>
          <a:solidFill>
            <a:srgbClr val="02714E"/>
          </a:solidFill>
          <a:ln/>
        </p:spPr>
      </p:sp>
      <p:pic>
        <p:nvPicPr>
          <p:cNvPr id="21" name="Image 3" descr="preencoded.png">    </p:cNvPr>
          <p:cNvPicPr>
            <a:picLocks noChangeAspect="1"/>
          </p:cNvPicPr>
          <p:nvPr/>
        </p:nvPicPr>
        <p:blipFill>
          <a:blip r:embed="rId4"/>
          <a:stretch>
            <a:fillRect/>
          </a:stretch>
        </p:blipFill>
        <p:spPr>
          <a:xfrm>
            <a:off x="6694871" y="4335719"/>
            <a:ext cx="289682" cy="289682"/>
          </a:xfrm>
          <a:prstGeom prst="rect">
            <a:avLst/>
          </a:prstGeom>
        </p:spPr>
      </p:pic>
      <p:sp>
        <p:nvSpPr>
          <p:cNvPr id="22" name="Text 16"/>
          <p:cNvSpPr/>
          <p:nvPr/>
        </p:nvSpPr>
        <p:spPr>
          <a:xfrm>
            <a:off x="7360920" y="4206240"/>
            <a:ext cx="4114800" cy="365760"/>
          </a:xfrm>
          <a:prstGeom prst="rect">
            <a:avLst/>
          </a:prstGeom>
          <a:noFill/>
          <a:ln/>
        </p:spPr>
        <p:txBody>
          <a:bodyPr wrap="square" lIns="0" tIns="0" rIns="0" bIns="0" rtlCol="0" anchor="ctr"/>
          <a:lstStyle/>
          <a:p>
            <a:pPr indent="0" marL="0">
              <a:buNone/>
            </a:pPr>
            <a:r>
              <a:rPr lang="en-US" sz="1600" b="1" dirty="0">
                <a:solidFill>
                  <a:srgbClr val="1C2B25"/>
                </a:solidFill>
                <a:latin typeface="Calibri" pitchFamily="34" charset="0"/>
                <a:ea typeface="Calibri" pitchFamily="34" charset="-122"/>
                <a:cs typeface="Calibri" pitchFamily="34" charset="-120"/>
              </a:rPr>
              <a:t>Analysts outrank the model</a:t>
            </a:r>
            <a:endParaRPr lang="en-US" sz="1600" dirty="0"/>
          </a:p>
        </p:txBody>
      </p:sp>
      <p:sp>
        <p:nvSpPr>
          <p:cNvPr id="23" name="Text 17"/>
          <p:cNvSpPr/>
          <p:nvPr/>
        </p:nvSpPr>
        <p:spPr>
          <a:xfrm>
            <a:off x="7360920" y="4617720"/>
            <a:ext cx="4114800" cy="1188720"/>
          </a:xfrm>
          <a:prstGeom prst="rect">
            <a:avLst/>
          </a:prstGeom>
          <a:noFill/>
          <a:ln/>
        </p:spPr>
        <p:txBody>
          <a:bodyPr wrap="square" lIns="0" tIns="0" rIns="0" bIns="0" rtlCol="0" anchor="ctr"/>
          <a:lstStyle/>
          <a:p>
            <a:pPr indent="0" marL="0">
              <a:buNone/>
            </a:pPr>
            <a:r>
              <a:rPr lang="en-US" sz="1300" dirty="0">
                <a:solidFill>
                  <a:srgbClr val="5E6E66"/>
                </a:solidFill>
                <a:latin typeface="Calibri" pitchFamily="34" charset="0"/>
                <a:ea typeface="Calibri" pitchFamily="34" charset="-122"/>
                <a:cs typeface="Calibri" pitchFamily="34" charset="-120"/>
              </a:rPr>
              <a:t>8 human verdicts are pinned permanently; the engine cannot overrule them and learns from each one.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13023"/>
        </a:solidFill>
      </p:bgPr>
    </p:bg>
    <p:spTree>
      <p:nvGrpSpPr>
        <p:cNvPr id="1" name=""/>
        <p:cNvGrpSpPr/>
        <p:nvPr/>
      </p:nvGrpSpPr>
      <p:grpSpPr>
        <a:xfrm>
          <a:off x="0" y="0"/>
          <a:ext cx="0" cy="0"/>
          <a:chOff x="0" y="0"/>
          <a:chExt cx="0" cy="0"/>
        </a:xfrm>
      </p:grpSpPr>
      <p:sp>
        <p:nvSpPr>
          <p:cNvPr id="2" name="Shape 0"/>
          <p:cNvSpPr/>
          <p:nvPr/>
        </p:nvSpPr>
        <p:spPr>
          <a:xfrm>
            <a:off x="9692640" y="-2011680"/>
            <a:ext cx="5486400" cy="5486400"/>
          </a:xfrm>
          <a:prstGeom prst="ellipse">
            <a:avLst/>
          </a:prstGeom>
          <a:solidFill>
            <a:srgbClr val="02714E">
              <a:alpha val="25000"/>
            </a:srgbClr>
          </a:solidFill>
          <a:ln/>
        </p:spPr>
      </p:sp>
      <p:sp>
        <p:nvSpPr>
          <p:cNvPr id="3" name="Text 1"/>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THE CORE FINDING</a:t>
            </a:r>
            <a:endParaRPr lang="en-US" sz="1200" dirty="0"/>
          </a:p>
        </p:txBody>
      </p:sp>
      <p:sp>
        <p:nvSpPr>
          <p:cNvPr id="4" name="Text 2"/>
          <p:cNvSpPr/>
          <p:nvPr/>
        </p:nvSpPr>
        <p:spPr>
          <a:xfrm>
            <a:off x="548640" y="640080"/>
            <a:ext cx="1106424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Zero anchor investors in the current roster, and the engine says so</a:t>
            </a:r>
            <a:endParaRPr lang="en-US" sz="3200" dirty="0"/>
          </a:p>
        </p:txBody>
      </p:sp>
      <p:sp>
        <p:nvSpPr>
          <p:cNvPr id="5" name="Text 3"/>
          <p:cNvSpPr/>
          <p:nvPr/>
        </p:nvSpPr>
        <p:spPr>
          <a:xfrm>
            <a:off x="548640" y="1600200"/>
            <a:ext cx="10881360" cy="777240"/>
          </a:xfrm>
          <a:prstGeom prst="rect">
            <a:avLst/>
          </a:prstGeom>
          <a:noFill/>
          <a:ln/>
        </p:spPr>
        <p:txBody>
          <a:bodyPr wrap="square" lIns="0" tIns="0" rIns="0" bIns="0" rtlCol="0" anchor="ctr"/>
          <a:lstStyle/>
          <a:p>
            <a:pPr indent="0" marL="0">
              <a:buNone/>
            </a:pPr>
            <a:r>
              <a:rPr lang="en-US" sz="1500" dirty="0">
                <a:solidFill>
                  <a:srgbClr val="BFD8CD"/>
                </a:solidFill>
                <a:latin typeface="Calibri" pitchFamily="34" charset="0"/>
                <a:ea typeface="Calibri" pitchFamily="34" charset="-122"/>
                <a:cs typeface="Calibri" pitchFamily="34" charset="-120"/>
              </a:rPr>
              <a:t>The company universe is a supplier and industrial registry. The opportunities are ICT, pharma and MedTech builds. The honest output is not a forced list of winners; it is a map of what this roster can actually contribute.</a:t>
            </a:r>
            <a:endParaRPr lang="en-US" sz="1500" dirty="0"/>
          </a:p>
        </p:txBody>
      </p:sp>
      <p:sp>
        <p:nvSpPr>
          <p:cNvPr id="6" name="Text 4"/>
          <p:cNvSpPr/>
          <p:nvPr/>
        </p:nvSpPr>
        <p:spPr>
          <a:xfrm>
            <a:off x="548640" y="2697480"/>
            <a:ext cx="2651760" cy="731520"/>
          </a:xfrm>
          <a:prstGeom prst="rect">
            <a:avLst/>
          </a:prstGeom>
          <a:noFill/>
          <a:ln/>
        </p:spPr>
        <p:txBody>
          <a:bodyPr wrap="square" lIns="0" tIns="0" rIns="0" bIns="0" rtlCol="0" anchor="ctr"/>
          <a:lstStyle/>
          <a:p>
            <a:pPr indent="0" marL="0">
              <a:buNone/>
            </a:pPr>
            <a:r>
              <a:rPr lang="en-US" sz="4000" b="1" dirty="0">
                <a:solidFill>
                  <a:srgbClr val="C9A227"/>
                </a:solidFill>
                <a:latin typeface="Cambria" pitchFamily="34" charset="0"/>
                <a:ea typeface="Cambria" pitchFamily="34" charset="-122"/>
                <a:cs typeface="Cambria" pitchFamily="34" charset="-120"/>
              </a:rPr>
              <a:t>0</a:t>
            </a:r>
            <a:endParaRPr lang="en-US" sz="4000" dirty="0"/>
          </a:p>
        </p:txBody>
      </p:sp>
      <p:sp>
        <p:nvSpPr>
          <p:cNvPr id="7" name="Text 5"/>
          <p:cNvSpPr/>
          <p:nvPr/>
        </p:nvSpPr>
        <p:spPr>
          <a:xfrm>
            <a:off x="548640" y="3429000"/>
            <a:ext cx="2651760" cy="5029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anchor investors found</a:t>
            </a:r>
            <a:endParaRPr lang="en-US" sz="1350" dirty="0"/>
          </a:p>
        </p:txBody>
      </p:sp>
      <p:sp>
        <p:nvSpPr>
          <p:cNvPr id="8" name="Text 6"/>
          <p:cNvSpPr/>
          <p:nvPr/>
        </p:nvSpPr>
        <p:spPr>
          <a:xfrm>
            <a:off x="548640" y="3931920"/>
            <a:ext cx="2651760" cy="777240"/>
          </a:xfrm>
          <a:prstGeom prst="rect">
            <a:avLst/>
          </a:prstGeom>
          <a:noFill/>
          <a:ln/>
        </p:spPr>
        <p:txBody>
          <a:bodyPr wrap="square" lIns="0" tIns="0" rIns="0" bIns="0" rtlCol="0" anchor="ctr"/>
          <a:lstStyle/>
          <a:p>
            <a:pPr indent="0" marL="0">
              <a:buNone/>
            </a:pPr>
            <a:r>
              <a:rPr lang="en-US" sz="1200" dirty="0">
                <a:solidFill>
                  <a:srgbClr val="9DBBAD"/>
                </a:solidFill>
                <a:latin typeface="Calibri" pitchFamily="34" charset="0"/>
                <a:ea typeface="Calibri" pitchFamily="34" charset="-122"/>
                <a:cs typeface="Calibri" pitchFamily="34" charset="-120"/>
              </a:rPr>
              <a:t>no company can build these opportunities alone</a:t>
            </a:r>
            <a:endParaRPr lang="en-US" sz="1200" dirty="0"/>
          </a:p>
        </p:txBody>
      </p:sp>
      <p:sp>
        <p:nvSpPr>
          <p:cNvPr id="9" name="Text 7"/>
          <p:cNvSpPr/>
          <p:nvPr/>
        </p:nvSpPr>
        <p:spPr>
          <a:xfrm>
            <a:off x="3401568" y="2697480"/>
            <a:ext cx="2651760" cy="731520"/>
          </a:xfrm>
          <a:prstGeom prst="rect">
            <a:avLst/>
          </a:prstGeom>
          <a:noFill/>
          <a:ln/>
        </p:spPr>
        <p:txBody>
          <a:bodyPr wrap="square" lIns="0" tIns="0" rIns="0" bIns="0" rtlCol="0" anchor="ctr"/>
          <a:lstStyle/>
          <a:p>
            <a:pPr indent="0" marL="0">
              <a:buNone/>
            </a:pPr>
            <a:r>
              <a:rPr lang="en-US" sz="4000" b="1" dirty="0">
                <a:solidFill>
                  <a:srgbClr val="C9A227"/>
                </a:solidFill>
                <a:latin typeface="Cambria" pitchFamily="34" charset="0"/>
                <a:ea typeface="Cambria" pitchFamily="34" charset="-122"/>
                <a:cs typeface="Cambria" pitchFamily="34" charset="-120"/>
              </a:rPr>
              <a:t>36</a:t>
            </a:r>
            <a:endParaRPr lang="en-US" sz="4000" dirty="0"/>
          </a:p>
        </p:txBody>
      </p:sp>
      <p:sp>
        <p:nvSpPr>
          <p:cNvPr id="10" name="Text 8"/>
          <p:cNvSpPr/>
          <p:nvPr/>
        </p:nvSpPr>
        <p:spPr>
          <a:xfrm>
            <a:off x="3401568" y="3429000"/>
            <a:ext cx="2651760" cy="5029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JV-partner plays</a:t>
            </a:r>
            <a:endParaRPr lang="en-US" sz="1350" dirty="0"/>
          </a:p>
        </p:txBody>
      </p:sp>
      <p:sp>
        <p:nvSpPr>
          <p:cNvPr id="11" name="Text 9"/>
          <p:cNvSpPr/>
          <p:nvPr/>
        </p:nvSpPr>
        <p:spPr>
          <a:xfrm>
            <a:off x="3401568" y="3931920"/>
            <a:ext cx="2651760" cy="777240"/>
          </a:xfrm>
          <a:prstGeom prst="rect">
            <a:avLst/>
          </a:prstGeom>
          <a:noFill/>
          <a:ln/>
        </p:spPr>
        <p:txBody>
          <a:bodyPr wrap="square" lIns="0" tIns="0" rIns="0" bIns="0" rtlCol="0" anchor="ctr"/>
          <a:lstStyle/>
          <a:p>
            <a:pPr indent="0" marL="0">
              <a:buNone/>
            </a:pPr>
            <a:r>
              <a:rPr lang="en-US" sz="1200" dirty="0">
                <a:solidFill>
                  <a:srgbClr val="9DBBAD"/>
                </a:solidFill>
                <a:latin typeface="Calibri" pitchFamily="34" charset="0"/>
                <a:ea typeface="Calibri" pitchFamily="34" charset="-122"/>
                <a:cs typeface="Calibri" pitchFamily="34" charset="-120"/>
              </a:rPr>
              <a:t>builder-type roles worth structuring around</a:t>
            </a:r>
            <a:endParaRPr lang="en-US" sz="1200" dirty="0"/>
          </a:p>
        </p:txBody>
      </p:sp>
      <p:sp>
        <p:nvSpPr>
          <p:cNvPr id="12" name="Text 10"/>
          <p:cNvSpPr/>
          <p:nvPr/>
        </p:nvSpPr>
        <p:spPr>
          <a:xfrm>
            <a:off x="6254496" y="2697480"/>
            <a:ext cx="2651760" cy="731520"/>
          </a:xfrm>
          <a:prstGeom prst="rect">
            <a:avLst/>
          </a:prstGeom>
          <a:noFill/>
          <a:ln/>
        </p:spPr>
        <p:txBody>
          <a:bodyPr wrap="square" lIns="0" tIns="0" rIns="0" bIns="0" rtlCol="0" anchor="ctr"/>
          <a:lstStyle/>
          <a:p>
            <a:pPr indent="0" marL="0">
              <a:buNone/>
            </a:pPr>
            <a:r>
              <a:rPr lang="en-US" sz="4000" b="1" dirty="0">
                <a:solidFill>
                  <a:srgbClr val="C9A227"/>
                </a:solidFill>
                <a:latin typeface="Cambria" pitchFamily="34" charset="0"/>
                <a:ea typeface="Cambria" pitchFamily="34" charset="-122"/>
                <a:cs typeface="Cambria" pitchFamily="34" charset="-120"/>
              </a:rPr>
              <a:t>38</a:t>
            </a:r>
            <a:endParaRPr lang="en-US" sz="4000" dirty="0"/>
          </a:p>
        </p:txBody>
      </p:sp>
      <p:sp>
        <p:nvSpPr>
          <p:cNvPr id="13" name="Text 11"/>
          <p:cNvSpPr/>
          <p:nvPr/>
        </p:nvSpPr>
        <p:spPr>
          <a:xfrm>
            <a:off x="6254496" y="3429000"/>
            <a:ext cx="2651760" cy="5029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supplier localization plays</a:t>
            </a:r>
            <a:endParaRPr lang="en-US" sz="1350" dirty="0"/>
          </a:p>
        </p:txBody>
      </p:sp>
      <p:sp>
        <p:nvSpPr>
          <p:cNvPr id="14" name="Text 12"/>
          <p:cNvSpPr/>
          <p:nvPr/>
        </p:nvSpPr>
        <p:spPr>
          <a:xfrm>
            <a:off x="6254496" y="3931920"/>
            <a:ext cx="2651760" cy="777240"/>
          </a:xfrm>
          <a:prstGeom prst="rect">
            <a:avLst/>
          </a:prstGeom>
          <a:noFill/>
          <a:ln/>
        </p:spPr>
        <p:txBody>
          <a:bodyPr wrap="square" lIns="0" tIns="0" rIns="0" bIns="0" rtlCol="0" anchor="ctr"/>
          <a:lstStyle/>
          <a:p>
            <a:pPr indent="0" marL="0">
              <a:buNone/>
            </a:pPr>
            <a:r>
              <a:rPr lang="en-US" sz="1200" dirty="0">
                <a:solidFill>
                  <a:srgbClr val="9DBBAD"/>
                </a:solidFill>
                <a:latin typeface="Calibri" pitchFamily="34" charset="0"/>
                <a:ea typeface="Calibri" pitchFamily="34" charset="-122"/>
                <a:cs typeface="Calibri" pitchFamily="34" charset="-120"/>
              </a:rPr>
              <a:t>the local supply-chain layer, correctly labeled</a:t>
            </a:r>
            <a:endParaRPr lang="en-US" sz="1200" dirty="0"/>
          </a:p>
        </p:txBody>
      </p:sp>
      <p:sp>
        <p:nvSpPr>
          <p:cNvPr id="15" name="Text 13"/>
          <p:cNvSpPr/>
          <p:nvPr/>
        </p:nvSpPr>
        <p:spPr>
          <a:xfrm>
            <a:off x="9107424" y="2697480"/>
            <a:ext cx="2651760" cy="731520"/>
          </a:xfrm>
          <a:prstGeom prst="rect">
            <a:avLst/>
          </a:prstGeom>
          <a:noFill/>
          <a:ln/>
        </p:spPr>
        <p:txBody>
          <a:bodyPr wrap="square" lIns="0" tIns="0" rIns="0" bIns="0" rtlCol="0" anchor="ctr"/>
          <a:lstStyle/>
          <a:p>
            <a:pPr indent="0" marL="0">
              <a:buNone/>
            </a:pPr>
            <a:r>
              <a:rPr lang="en-US" sz="4000" b="1" dirty="0">
                <a:solidFill>
                  <a:srgbClr val="C9A227"/>
                </a:solidFill>
                <a:latin typeface="Cambria" pitchFamily="34" charset="0"/>
                <a:ea typeface="Cambria" pitchFamily="34" charset="-122"/>
                <a:cs typeface="Cambria" pitchFamily="34" charset="-120"/>
              </a:rPr>
              <a:t>9 + 3</a:t>
            </a:r>
            <a:endParaRPr lang="en-US" sz="4000" dirty="0"/>
          </a:p>
        </p:txBody>
      </p:sp>
      <p:sp>
        <p:nvSpPr>
          <p:cNvPr id="16" name="Text 14"/>
          <p:cNvSpPr/>
          <p:nvPr/>
        </p:nvSpPr>
        <p:spPr>
          <a:xfrm>
            <a:off x="9107424" y="3429000"/>
            <a:ext cx="2651760" cy="5029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honest statuses</a:t>
            </a:r>
            <a:endParaRPr lang="en-US" sz="1350" dirty="0"/>
          </a:p>
        </p:txBody>
      </p:sp>
      <p:sp>
        <p:nvSpPr>
          <p:cNvPr id="17" name="Text 15"/>
          <p:cNvSpPr/>
          <p:nvPr/>
        </p:nvSpPr>
        <p:spPr>
          <a:xfrm>
            <a:off x="9107424" y="3931920"/>
            <a:ext cx="2651760" cy="777240"/>
          </a:xfrm>
          <a:prstGeom prst="rect">
            <a:avLst/>
          </a:prstGeom>
          <a:noFill/>
          <a:ln/>
        </p:spPr>
        <p:txBody>
          <a:bodyPr wrap="square" lIns="0" tIns="0" rIns="0" bIns="0" rtlCol="0" anchor="ctr"/>
          <a:lstStyle/>
          <a:p>
            <a:pPr indent="0" marL="0">
              <a:buNone/>
            </a:pPr>
            <a:r>
              <a:rPr lang="en-US" sz="1200" dirty="0">
                <a:solidFill>
                  <a:srgbClr val="9DBBAD"/>
                </a:solidFill>
                <a:latin typeface="Calibri" pitchFamily="34" charset="0"/>
                <a:ea typeface="Calibri" pitchFamily="34" charset="-122"/>
                <a:cs typeface="Calibri" pitchFamily="34" charset="-120"/>
              </a:rPr>
              <a:t>9 opportunities lack an anchor; 3 have no viable target at all</a:t>
            </a:r>
            <a:endParaRPr lang="en-US" sz="1200" dirty="0"/>
          </a:p>
        </p:txBody>
      </p:sp>
      <p:sp>
        <p:nvSpPr>
          <p:cNvPr id="18" name="Shape 16"/>
          <p:cNvSpPr/>
          <p:nvPr/>
        </p:nvSpPr>
        <p:spPr>
          <a:xfrm>
            <a:off x="548640" y="4983480"/>
            <a:ext cx="11064240" cy="1325880"/>
          </a:xfrm>
          <a:prstGeom prst="roundRect">
            <a:avLst>
              <a:gd name="adj" fmla="val 5517"/>
            </a:avLst>
          </a:prstGeom>
          <a:solidFill>
            <a:srgbClr val="02714E">
              <a:alpha val="45000"/>
            </a:srgbClr>
          </a:solidFill>
          <a:ln/>
        </p:spPr>
      </p:sp>
      <p:sp>
        <p:nvSpPr>
          <p:cNvPr id="19" name="Text 17"/>
          <p:cNvSpPr/>
          <p:nvPr/>
        </p:nvSpPr>
        <p:spPr>
          <a:xfrm>
            <a:off x="868680" y="5193792"/>
            <a:ext cx="10424160" cy="9601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The strategic recommendation the engine writes itself:  </a:t>
            </a:r>
            <a:pPr indent="0" marL="0">
              <a:buNone/>
            </a:pPr>
            <a:r>
              <a:rPr lang="en-US" sz="1350" dirty="0">
                <a:solidFill>
                  <a:srgbClr val="DCEAE3"/>
                </a:solidFill>
                <a:latin typeface="Calibri" pitchFamily="34" charset="0"/>
                <a:ea typeface="Calibri" pitchFamily="34" charset="-122"/>
                <a:cs typeface="Calibri" pitchFamily="34" charset="-120"/>
              </a:rPr>
              <a:t>source anchor prospects externally per vertical (telecom OEM and EMS players for ICT builds, imaging and device OEMs for MedTech, API and biologics producers for pharma) and deploy this roster as the JV and supply-chain layer it actually is.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02714E"/>
                </a:solidFill>
                <a:latin typeface="Calibri" pitchFamily="34" charset="0"/>
                <a:ea typeface="Calibri" pitchFamily="34" charset="-122"/>
                <a:cs typeface="Calibri" pitchFamily="34" charset="-120"/>
              </a:rPr>
              <a:t>EXTERNAL LENS</a:t>
            </a:r>
            <a:endParaRPr lang="en-US" sz="1200" dirty="0"/>
          </a:p>
        </p:txBody>
      </p:sp>
      <p:sp>
        <p:nvSpPr>
          <p:cNvPr id="3" name="Text 1"/>
          <p:cNvSpPr/>
          <p:nvPr/>
        </p:nvSpPr>
        <p:spPr>
          <a:xfrm>
            <a:off x="548640" y="640080"/>
            <a:ext cx="11064240" cy="685800"/>
          </a:xfrm>
          <a:prstGeom prst="rect">
            <a:avLst/>
          </a:prstGeom>
          <a:noFill/>
          <a:ln/>
        </p:spPr>
        <p:txBody>
          <a:bodyPr wrap="square" lIns="0" tIns="0" rIns="0" bIns="0" rtlCol="0" anchor="ctr"/>
          <a:lstStyle/>
          <a:p>
            <a:pPr indent="0" marL="0">
              <a:buNone/>
            </a:pPr>
            <a:r>
              <a:rPr lang="en-US" sz="3200" b="1" dirty="0">
                <a:solidFill>
                  <a:srgbClr val="1C2B25"/>
                </a:solidFill>
                <a:latin typeface="Cambria" pitchFamily="34" charset="0"/>
                <a:ea typeface="Cambria" pitchFamily="34" charset="-122"/>
                <a:cs typeface="Cambria" pitchFamily="34" charset="-120"/>
              </a:rPr>
              <a:t>Independent expert assessment</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5852160" cy="914400"/>
        </p:xfrm>
        <a:graphic>
          <a:graphicData uri="http://schemas.openxmlformats.org/drawingml/2006/table">
            <a:tbl>
              <a:tblPr/>
              <a:tblGrid>
                <a:gridCol w="4663440"/>
                <a:gridCol w="1188720"/>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Dimension</a:t>
                      </a:r>
                      <a:endParaRPr lang="en-US" sz="1300" dirty="0">
                        <a:latin typeface="Calibri" charset="0"/>
                        <a:ea typeface="Calibri" charset="0"/>
                        <a:cs typeface="Calibri" charset="0"/>
                      </a:endParaRPr>
                    </a:p>
                  </a:txBody>
                  <a:tcPr marL="91440" marR="91440" marT="45720" marB="45720" anchor="ctr">
                    <a:lnL w="9525" cap="flat" cmpd="sng" algn="ctr">
                      <a:solidFill>
                        <a:srgbClr val="DCE8E2"/>
                      </a:solidFill>
                      <a:prstDash val="solid"/>
                      <a:round/>
                      <a:headEnd type="none" w="med" len="med"/>
                      <a:tailEnd type="none" w="med" len="med"/>
                    </a:lnL>
                    <a:lnR w="9525" cap="flat" cmpd="sng" algn="ctr">
                      <a:solidFill>
                        <a:srgbClr val="DCE8E2"/>
                      </a:solidFill>
                      <a:prstDash val="solid"/>
                      <a:round/>
                      <a:headEnd type="none" w="med" len="med"/>
                      <a:tailEnd type="none" w="med" len="med"/>
                    </a:lnR>
                    <a:lnT w="9525" cap="flat" cmpd="sng" algn="ctr">
                      <a:solidFill>
                        <a:srgbClr val="DCE8E2"/>
                      </a:solidFill>
                      <a:prstDash val="solid"/>
                      <a:round/>
                      <a:headEnd type="none" w="med" len="med"/>
                      <a:tailEnd type="none" w="med" len="med"/>
                    </a:lnT>
                    <a:lnB w="9525" cap="flat" cmpd="sng" algn="ctr">
                      <a:solidFill>
                        <a:srgbClr val="DCE8E2"/>
                      </a:solidFill>
                      <a:prstDash val="solid"/>
                      <a:round/>
                      <a:headEnd type="none" w="med" len="med"/>
                      <a:tailEnd type="none" w="med" len="med"/>
                    </a:lnB>
                    <a:solidFill>
                      <a:srgbClr val="02714E"/>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Grade</a:t>
                      </a:r>
                      <a:endParaRPr lang="en-US" sz="1300" dirty="0">
                        <a:latin typeface="Calibri" charset="0"/>
                        <a:ea typeface="Calibri" charset="0"/>
                        <a:cs typeface="Calibri" charset="0"/>
                      </a:endParaRPr>
                    </a:p>
                  </a:txBody>
                  <a:tcPr marL="91440" marR="91440" marT="45720" marB="45720" anchor="ctr">
                    <a:lnL w="9525" cap="flat" cmpd="sng" algn="ctr">
                      <a:solidFill>
                        <a:srgbClr val="DCE8E2"/>
                      </a:solidFill>
                      <a:prstDash val="solid"/>
                      <a:round/>
                      <a:headEnd type="none" w="med" len="med"/>
                      <a:tailEnd type="none" w="med" len="med"/>
                    </a:lnL>
                    <a:lnR w="9525" cap="flat" cmpd="sng" algn="ctr">
                      <a:solidFill>
                        <a:srgbClr val="DCE8E2"/>
                      </a:solidFill>
                      <a:prstDash val="solid"/>
                      <a:round/>
                      <a:headEnd type="none" w="med" len="med"/>
                      <a:tailEnd type="none" w="med" len="med"/>
                    </a:lnR>
                    <a:lnT w="9525" cap="flat" cmpd="sng" algn="ctr">
                      <a:solidFill>
                        <a:srgbClr val="DCE8E2"/>
                      </a:solidFill>
                      <a:prstDash val="solid"/>
                      <a:round/>
                      <a:headEnd type="none" w="med" len="med"/>
                      <a:tailEnd type="none" w="med" len="med"/>
                    </a:lnT>
                    <a:lnB w="9525" cap="flat" cmpd="sng" algn="ctr">
                      <a:solidFill>
                        <a:srgbClr val="DCE8E2"/>
                      </a:solidFill>
                      <a:prstDash val="solid"/>
                      <a:round/>
                      <a:headEnd type="none" w="med" len="med"/>
                      <a:tailEnd type="none" w="med" len="med"/>
                    </a:lnB>
                    <a:solidFill>
                      <a:srgbClr val="02714E"/>
                    </a:solidFill>
                  </a:tcPr>
                </a:tc>
              </a:tr>
              <a:tr h="475488">
                <a:tc>
                  <a:txBody>
                    <a:bodyPr/>
                    <a:lstStyle/>
                    <a:p>
                      <a:pPr indent="0" marL="0">
                        <a:buNone/>
                      </a:pPr>
                      <a:r>
                        <a:rPr lang="en-US" sz="1300" dirty="0">
                          <a:solidFill>
                            <a:srgbClr val="1C2B25"/>
                          </a:solidFill>
                          <a:latin typeface="Calibri" pitchFamily="34" charset="0"/>
                          <a:ea typeface="Calibri" pitchFamily="34" charset="-122"/>
                          <a:cs typeface="Calibri" pitchFamily="34" charset="-120"/>
                        </a:rPr>
                        <a:t>Analytical honesty (risks, gaps)</a:t>
                      </a:r>
                      <a:endParaRPr lang="en-US" sz="1300" dirty="0">
                        <a:latin typeface="Calibri" charset="0"/>
                        <a:ea typeface="Calibri" charset="0"/>
                        <a:cs typeface="Calibri" charset="0"/>
                      </a:endParaRPr>
                    </a:p>
                  </a:txBody>
                  <a:tcPr marL="91440" marR="91440" marT="45720" marB="45720" anchor="ctr">
                    <a:lnL w="9525" cap="flat" cmpd="sng" algn="ctr">
                      <a:solidFill>
                        <a:srgbClr val="DCE8E2"/>
                      </a:solidFill>
                      <a:prstDash val="solid"/>
                      <a:round/>
                      <a:headEnd type="none" w="med" len="med"/>
                      <a:tailEnd type="none" w="med" len="med"/>
                    </a:lnL>
                    <a:lnR w="9525" cap="flat" cmpd="sng" algn="ctr">
                      <a:solidFill>
                        <a:srgbClr val="DCE8E2"/>
                      </a:solidFill>
                      <a:prstDash val="solid"/>
                      <a:round/>
                      <a:headEnd type="none" w="med" len="med"/>
                      <a:tailEnd type="none" w="med" len="med"/>
                    </a:lnR>
                    <a:lnT w="9525" cap="flat" cmpd="sng" algn="ctr">
                      <a:solidFill>
                        <a:srgbClr val="DCE8E2"/>
                      </a:solidFill>
                      <a:prstDash val="solid"/>
                      <a:round/>
                      <a:headEnd type="none" w="med" len="med"/>
                      <a:tailEnd type="none" w="med" len="med"/>
                    </a:lnT>
                    <a:lnB w="9525" cap="flat" cmpd="sng" algn="ctr">
                      <a:solidFill>
                        <a:srgbClr val="DCE8E2"/>
                      </a:solidFill>
                      <a:prstDash val="solid"/>
                      <a:round/>
                      <a:headEnd type="none" w="med" len="med"/>
                      <a:tailEnd type="none" w="med" len="med"/>
                    </a:lnB>
                    <a:solidFill>
                      <a:srgbClr val="EAF3EF"/>
                    </a:solidFill>
                  </a:tcPr>
                </a:tc>
                <a:tc>
                  <a:txBody>
                    <a:bodyPr/>
                    <a:lstStyle/>
                    <a:p>
                      <a:pPr algn="ctr" indent="0" marL="0">
                        <a:buNone/>
                      </a:pPr>
                      <a:r>
                        <a:rPr lang="en-US" sz="1500" b="1" dirty="0">
                          <a:solidFill>
                            <a:srgbClr val="02714E"/>
                          </a:solidFill>
                          <a:latin typeface="Cambria" pitchFamily="34" charset="0"/>
                          <a:ea typeface="Cambria" pitchFamily="34" charset="-122"/>
                          <a:cs typeface="Cambria" pitchFamily="34" charset="-120"/>
                        </a:rPr>
                        <a:t>A</a:t>
                      </a:r>
                      <a:endParaRPr lang="en-US" sz="1500" dirty="0">
                        <a:latin typeface="Cambria" charset="0"/>
                        <a:ea typeface="Cambria" charset="0"/>
                        <a:cs typeface="Cambria" charset="0"/>
                      </a:endParaRPr>
                    </a:p>
                  </a:txBody>
                  <a:tcPr marL="91440" marR="91440" marT="45720" marB="45720" anchor="ctr">
                    <a:lnL w="9525" cap="flat" cmpd="sng" algn="ctr">
                      <a:solidFill>
                        <a:srgbClr val="DCE8E2"/>
                      </a:solidFill>
                      <a:prstDash val="solid"/>
                      <a:round/>
                      <a:headEnd type="none" w="med" len="med"/>
                      <a:tailEnd type="none" w="med" len="med"/>
                    </a:lnL>
                    <a:lnR w="9525" cap="flat" cmpd="sng" algn="ctr">
                      <a:solidFill>
                        <a:srgbClr val="DCE8E2"/>
                      </a:solidFill>
                      <a:prstDash val="solid"/>
                      <a:round/>
                      <a:headEnd type="none" w="med" len="med"/>
                      <a:tailEnd type="none" w="med" len="med"/>
                    </a:lnR>
                    <a:lnT w="9525" cap="flat" cmpd="sng" algn="ctr">
                      <a:solidFill>
                        <a:srgbClr val="DCE8E2"/>
                      </a:solidFill>
                      <a:prstDash val="solid"/>
                      <a:round/>
                      <a:headEnd type="none" w="med" len="med"/>
                      <a:tailEnd type="none" w="med" len="med"/>
                    </a:lnT>
                    <a:lnB w="9525" cap="flat" cmpd="sng" algn="ctr">
                      <a:solidFill>
                        <a:srgbClr val="DCE8E2"/>
                      </a:solidFill>
                      <a:prstDash val="solid"/>
                      <a:round/>
                      <a:headEnd type="none" w="med" len="med"/>
                      <a:tailEnd type="none" w="med" len="med"/>
                    </a:lnB>
                    <a:solidFill>
                      <a:srgbClr val="EAF3EF"/>
                    </a:solidFill>
                  </a:tcPr>
                </a:tc>
              </a:tr>
              <a:tr h="475488">
                <a:tc>
                  <a:txBody>
                    <a:bodyPr/>
                    <a:lstStyle/>
                    <a:p>
                      <a:pPr indent="0" marL="0">
                        <a:buNone/>
                      </a:pPr>
                      <a:r>
                        <a:rPr lang="en-US" sz="1300" dirty="0">
                          <a:solidFill>
                            <a:srgbClr val="1C2B25"/>
                          </a:solidFill>
                          <a:latin typeface="Calibri" pitchFamily="34" charset="0"/>
                          <a:ea typeface="Calibri" pitchFamily="34" charset="-122"/>
                          <a:cs typeface="Calibri" pitchFamily="34" charset="-120"/>
                        </a:rPr>
                        <a:t>Explanation specificity</a:t>
                      </a:r>
                      <a:endParaRPr lang="en-US" sz="1300" dirty="0">
                        <a:latin typeface="Calibri" charset="0"/>
                        <a:ea typeface="Calibri" charset="0"/>
                        <a:cs typeface="Calibri" charset="0"/>
                      </a:endParaRPr>
                    </a:p>
                  </a:txBody>
                  <a:tcPr marL="91440" marR="91440" marT="45720" marB="45720" anchor="ctr">
                    <a:lnL w="9525" cap="flat" cmpd="sng" algn="ctr">
                      <a:solidFill>
                        <a:srgbClr val="DCE8E2"/>
                      </a:solidFill>
                      <a:prstDash val="solid"/>
                      <a:round/>
                      <a:headEnd type="none" w="med" len="med"/>
                      <a:tailEnd type="none" w="med" len="med"/>
                    </a:lnL>
                    <a:lnR w="9525" cap="flat" cmpd="sng" algn="ctr">
                      <a:solidFill>
                        <a:srgbClr val="DCE8E2"/>
                      </a:solidFill>
                      <a:prstDash val="solid"/>
                      <a:round/>
                      <a:headEnd type="none" w="med" len="med"/>
                      <a:tailEnd type="none" w="med" len="med"/>
                    </a:lnR>
                    <a:lnT w="9525" cap="flat" cmpd="sng" algn="ctr">
                      <a:solidFill>
                        <a:srgbClr val="DCE8E2"/>
                      </a:solidFill>
                      <a:prstDash val="solid"/>
                      <a:round/>
                      <a:headEnd type="none" w="med" len="med"/>
                      <a:tailEnd type="none" w="med" len="med"/>
                    </a:lnT>
                    <a:lnB w="9525" cap="flat" cmpd="sng" algn="ctr">
                      <a:solidFill>
                        <a:srgbClr val="DCE8E2"/>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2714E"/>
                          </a:solidFill>
                          <a:latin typeface="Cambria" pitchFamily="34" charset="0"/>
                          <a:ea typeface="Cambria" pitchFamily="34" charset="-122"/>
                          <a:cs typeface="Cambria" pitchFamily="34" charset="-120"/>
                        </a:rPr>
                        <a:t>A-</a:t>
                      </a:r>
                      <a:endParaRPr lang="en-US" sz="1500" dirty="0">
                        <a:latin typeface="Cambria" charset="0"/>
                        <a:ea typeface="Cambria" charset="0"/>
                        <a:cs typeface="Cambria" charset="0"/>
                      </a:endParaRPr>
                    </a:p>
                  </a:txBody>
                  <a:tcPr marL="91440" marR="91440" marT="45720" marB="45720" anchor="ctr">
                    <a:lnL w="9525" cap="flat" cmpd="sng" algn="ctr">
                      <a:solidFill>
                        <a:srgbClr val="DCE8E2"/>
                      </a:solidFill>
                      <a:prstDash val="solid"/>
                      <a:round/>
                      <a:headEnd type="none" w="med" len="med"/>
                      <a:tailEnd type="none" w="med" len="med"/>
                    </a:lnL>
                    <a:lnR w="9525" cap="flat" cmpd="sng" algn="ctr">
                      <a:solidFill>
                        <a:srgbClr val="DCE8E2"/>
                      </a:solidFill>
                      <a:prstDash val="solid"/>
                      <a:round/>
                      <a:headEnd type="none" w="med" len="med"/>
                      <a:tailEnd type="none" w="med" len="med"/>
                    </a:lnR>
                    <a:lnT w="9525" cap="flat" cmpd="sng" algn="ctr">
                      <a:solidFill>
                        <a:srgbClr val="DCE8E2"/>
                      </a:solidFill>
                      <a:prstDash val="solid"/>
                      <a:round/>
                      <a:headEnd type="none" w="med" len="med"/>
                      <a:tailEnd type="none" w="med" len="med"/>
                    </a:lnT>
                    <a:lnB w="9525" cap="flat" cmpd="sng" algn="ctr">
                      <a:solidFill>
                        <a:srgbClr val="DCE8E2"/>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C2B25"/>
                          </a:solidFill>
                          <a:latin typeface="Calibri" pitchFamily="34" charset="0"/>
                          <a:ea typeface="Calibri" pitchFamily="34" charset="-122"/>
                          <a:cs typeface="Calibri" pitchFamily="34" charset="-120"/>
                        </a:rPr>
                        <a:t>Supplier-ecosystem mapping</a:t>
                      </a:r>
                      <a:endParaRPr lang="en-US" sz="1300" dirty="0">
                        <a:latin typeface="Calibri" charset="0"/>
                        <a:ea typeface="Calibri" charset="0"/>
                        <a:cs typeface="Calibri" charset="0"/>
                      </a:endParaRPr>
                    </a:p>
                  </a:txBody>
                  <a:tcPr marL="91440" marR="91440" marT="45720" marB="45720" anchor="ctr">
                    <a:lnL w="9525" cap="flat" cmpd="sng" algn="ctr">
                      <a:solidFill>
                        <a:srgbClr val="DCE8E2"/>
                      </a:solidFill>
                      <a:prstDash val="solid"/>
                      <a:round/>
                      <a:headEnd type="none" w="med" len="med"/>
                      <a:tailEnd type="none" w="med" len="med"/>
                    </a:lnL>
                    <a:lnR w="9525" cap="flat" cmpd="sng" algn="ctr">
                      <a:solidFill>
                        <a:srgbClr val="DCE8E2"/>
                      </a:solidFill>
                      <a:prstDash val="solid"/>
                      <a:round/>
                      <a:headEnd type="none" w="med" len="med"/>
                      <a:tailEnd type="none" w="med" len="med"/>
                    </a:lnR>
                    <a:lnT w="9525" cap="flat" cmpd="sng" algn="ctr">
                      <a:solidFill>
                        <a:srgbClr val="DCE8E2"/>
                      </a:solidFill>
                      <a:prstDash val="solid"/>
                      <a:round/>
                      <a:headEnd type="none" w="med" len="med"/>
                      <a:tailEnd type="none" w="med" len="med"/>
                    </a:lnT>
                    <a:lnB w="9525" cap="flat" cmpd="sng" algn="ctr">
                      <a:solidFill>
                        <a:srgbClr val="DCE8E2"/>
                      </a:solidFill>
                      <a:prstDash val="solid"/>
                      <a:round/>
                      <a:headEnd type="none" w="med" len="med"/>
                      <a:tailEnd type="none" w="med" len="med"/>
                    </a:lnB>
                    <a:solidFill>
                      <a:srgbClr val="EAF3EF"/>
                    </a:solidFill>
                  </a:tcPr>
                </a:tc>
                <a:tc>
                  <a:txBody>
                    <a:bodyPr/>
                    <a:lstStyle/>
                    <a:p>
                      <a:pPr algn="ctr" indent="0" marL="0">
                        <a:buNone/>
                      </a:pPr>
                      <a:r>
                        <a:rPr lang="en-US" sz="1500" b="1" dirty="0">
                          <a:solidFill>
                            <a:srgbClr val="02714E"/>
                          </a:solidFill>
                          <a:latin typeface="Cambria" pitchFamily="34" charset="0"/>
                          <a:ea typeface="Cambria" pitchFamily="34" charset="-122"/>
                          <a:cs typeface="Cambria" pitchFamily="34" charset="-120"/>
                        </a:rPr>
                        <a:t>A</a:t>
                      </a:r>
                      <a:endParaRPr lang="en-US" sz="1500" dirty="0">
                        <a:latin typeface="Cambria" charset="0"/>
                        <a:ea typeface="Cambria" charset="0"/>
                        <a:cs typeface="Cambria" charset="0"/>
                      </a:endParaRPr>
                    </a:p>
                  </a:txBody>
                  <a:tcPr marL="91440" marR="91440" marT="45720" marB="45720" anchor="ctr">
                    <a:lnL w="9525" cap="flat" cmpd="sng" algn="ctr">
                      <a:solidFill>
                        <a:srgbClr val="DCE8E2"/>
                      </a:solidFill>
                      <a:prstDash val="solid"/>
                      <a:round/>
                      <a:headEnd type="none" w="med" len="med"/>
                      <a:tailEnd type="none" w="med" len="med"/>
                    </a:lnL>
                    <a:lnR w="9525" cap="flat" cmpd="sng" algn="ctr">
                      <a:solidFill>
                        <a:srgbClr val="DCE8E2"/>
                      </a:solidFill>
                      <a:prstDash val="solid"/>
                      <a:round/>
                      <a:headEnd type="none" w="med" len="med"/>
                      <a:tailEnd type="none" w="med" len="med"/>
                    </a:lnR>
                    <a:lnT w="9525" cap="flat" cmpd="sng" algn="ctr">
                      <a:solidFill>
                        <a:srgbClr val="DCE8E2"/>
                      </a:solidFill>
                      <a:prstDash val="solid"/>
                      <a:round/>
                      <a:headEnd type="none" w="med" len="med"/>
                      <a:tailEnd type="none" w="med" len="med"/>
                    </a:lnT>
                    <a:lnB w="9525" cap="flat" cmpd="sng" algn="ctr">
                      <a:solidFill>
                        <a:srgbClr val="DCE8E2"/>
                      </a:solidFill>
                      <a:prstDash val="solid"/>
                      <a:round/>
                      <a:headEnd type="none" w="med" len="med"/>
                      <a:tailEnd type="none" w="med" len="med"/>
                    </a:lnB>
                    <a:solidFill>
                      <a:srgbClr val="EAF3EF"/>
                    </a:solidFill>
                  </a:tcPr>
                </a:tc>
              </a:tr>
              <a:tr h="475488">
                <a:tc>
                  <a:txBody>
                    <a:bodyPr/>
                    <a:lstStyle/>
                    <a:p>
                      <a:pPr indent="0" marL="0">
                        <a:buNone/>
                      </a:pPr>
                      <a:r>
                        <a:rPr lang="en-US" sz="1300" dirty="0">
                          <a:solidFill>
                            <a:srgbClr val="1C2B25"/>
                          </a:solidFill>
                          <a:latin typeface="Calibri" pitchFamily="34" charset="0"/>
                          <a:ea typeface="Calibri" pitchFamily="34" charset="-122"/>
                          <a:cs typeface="Calibri" pitchFamily="34" charset="-120"/>
                        </a:rPr>
                        <a:t>No-viable-target handling</a:t>
                      </a:r>
                      <a:endParaRPr lang="en-US" sz="1300" dirty="0">
                        <a:latin typeface="Calibri" charset="0"/>
                        <a:ea typeface="Calibri" charset="0"/>
                        <a:cs typeface="Calibri" charset="0"/>
                      </a:endParaRPr>
                    </a:p>
                  </a:txBody>
                  <a:tcPr marL="91440" marR="91440" marT="45720" marB="45720" anchor="ctr">
                    <a:lnL w="9525" cap="flat" cmpd="sng" algn="ctr">
                      <a:solidFill>
                        <a:srgbClr val="DCE8E2"/>
                      </a:solidFill>
                      <a:prstDash val="solid"/>
                      <a:round/>
                      <a:headEnd type="none" w="med" len="med"/>
                      <a:tailEnd type="none" w="med" len="med"/>
                    </a:lnL>
                    <a:lnR w="9525" cap="flat" cmpd="sng" algn="ctr">
                      <a:solidFill>
                        <a:srgbClr val="DCE8E2"/>
                      </a:solidFill>
                      <a:prstDash val="solid"/>
                      <a:round/>
                      <a:headEnd type="none" w="med" len="med"/>
                      <a:tailEnd type="none" w="med" len="med"/>
                    </a:lnR>
                    <a:lnT w="9525" cap="flat" cmpd="sng" algn="ctr">
                      <a:solidFill>
                        <a:srgbClr val="DCE8E2"/>
                      </a:solidFill>
                      <a:prstDash val="solid"/>
                      <a:round/>
                      <a:headEnd type="none" w="med" len="med"/>
                      <a:tailEnd type="none" w="med" len="med"/>
                    </a:lnT>
                    <a:lnB w="9525" cap="flat" cmpd="sng" algn="ctr">
                      <a:solidFill>
                        <a:srgbClr val="DCE8E2"/>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02714E"/>
                          </a:solidFill>
                          <a:latin typeface="Cambria" pitchFamily="34" charset="0"/>
                          <a:ea typeface="Cambria" pitchFamily="34" charset="-122"/>
                          <a:cs typeface="Cambria" pitchFamily="34" charset="-120"/>
                        </a:rPr>
                        <a:t>A-</a:t>
                      </a:r>
                      <a:endParaRPr lang="en-US" sz="1500" dirty="0">
                        <a:latin typeface="Cambria" charset="0"/>
                        <a:ea typeface="Cambria" charset="0"/>
                        <a:cs typeface="Cambria" charset="0"/>
                      </a:endParaRPr>
                    </a:p>
                  </a:txBody>
                  <a:tcPr marL="91440" marR="91440" marT="45720" marB="45720" anchor="ctr">
                    <a:lnL w="9525" cap="flat" cmpd="sng" algn="ctr">
                      <a:solidFill>
                        <a:srgbClr val="DCE8E2"/>
                      </a:solidFill>
                      <a:prstDash val="solid"/>
                      <a:round/>
                      <a:headEnd type="none" w="med" len="med"/>
                      <a:tailEnd type="none" w="med" len="med"/>
                    </a:lnL>
                    <a:lnR w="9525" cap="flat" cmpd="sng" algn="ctr">
                      <a:solidFill>
                        <a:srgbClr val="DCE8E2"/>
                      </a:solidFill>
                      <a:prstDash val="solid"/>
                      <a:round/>
                      <a:headEnd type="none" w="med" len="med"/>
                      <a:tailEnd type="none" w="med" len="med"/>
                    </a:lnR>
                    <a:lnT w="9525" cap="flat" cmpd="sng" algn="ctr">
                      <a:solidFill>
                        <a:srgbClr val="DCE8E2"/>
                      </a:solidFill>
                      <a:prstDash val="solid"/>
                      <a:round/>
                      <a:headEnd type="none" w="med" len="med"/>
                      <a:tailEnd type="none" w="med" len="med"/>
                    </a:lnT>
                    <a:lnB w="9525" cap="flat" cmpd="sng" algn="ctr">
                      <a:solidFill>
                        <a:srgbClr val="DCE8E2"/>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1C2B25"/>
                          </a:solidFill>
                          <a:latin typeface="Calibri" pitchFamily="34" charset="0"/>
                          <a:ea typeface="Calibri" pitchFamily="34" charset="-122"/>
                          <a:cs typeface="Calibri" pitchFamily="34" charset="-120"/>
                        </a:rPr>
                        <a:t>Decision-label calibration</a:t>
                      </a:r>
                      <a:endParaRPr lang="en-US" sz="1300" dirty="0">
                        <a:latin typeface="Calibri" charset="0"/>
                        <a:ea typeface="Calibri" charset="0"/>
                        <a:cs typeface="Calibri" charset="0"/>
                      </a:endParaRPr>
                    </a:p>
                  </a:txBody>
                  <a:tcPr marL="91440" marR="91440" marT="45720" marB="45720" anchor="ctr">
                    <a:lnL w="9525" cap="flat" cmpd="sng" algn="ctr">
                      <a:solidFill>
                        <a:srgbClr val="DCE8E2"/>
                      </a:solidFill>
                      <a:prstDash val="solid"/>
                      <a:round/>
                      <a:headEnd type="none" w="med" len="med"/>
                      <a:tailEnd type="none" w="med" len="med"/>
                    </a:lnL>
                    <a:lnR w="9525" cap="flat" cmpd="sng" algn="ctr">
                      <a:solidFill>
                        <a:srgbClr val="DCE8E2"/>
                      </a:solidFill>
                      <a:prstDash val="solid"/>
                      <a:round/>
                      <a:headEnd type="none" w="med" len="med"/>
                      <a:tailEnd type="none" w="med" len="med"/>
                    </a:lnR>
                    <a:lnT w="9525" cap="flat" cmpd="sng" algn="ctr">
                      <a:solidFill>
                        <a:srgbClr val="DCE8E2"/>
                      </a:solidFill>
                      <a:prstDash val="solid"/>
                      <a:round/>
                      <a:headEnd type="none" w="med" len="med"/>
                      <a:tailEnd type="none" w="med" len="med"/>
                    </a:lnT>
                    <a:lnB w="9525" cap="flat" cmpd="sng" algn="ctr">
                      <a:solidFill>
                        <a:srgbClr val="DCE8E2"/>
                      </a:solidFill>
                      <a:prstDash val="solid"/>
                      <a:round/>
                      <a:headEnd type="none" w="med" len="med"/>
                      <a:tailEnd type="none" w="med" len="med"/>
                    </a:lnB>
                    <a:solidFill>
                      <a:srgbClr val="EAF3EF"/>
                    </a:solidFill>
                  </a:tcPr>
                </a:tc>
                <a:tc>
                  <a:txBody>
                    <a:bodyPr/>
                    <a:lstStyle/>
                    <a:p>
                      <a:pPr algn="ctr" indent="0" marL="0">
                        <a:buNone/>
                      </a:pPr>
                      <a:r>
                        <a:rPr lang="en-US" sz="1500" b="1" dirty="0">
                          <a:solidFill>
                            <a:srgbClr val="C9A227"/>
                          </a:solidFill>
                          <a:latin typeface="Cambria" pitchFamily="34" charset="0"/>
                          <a:ea typeface="Cambria" pitchFamily="34" charset="-122"/>
                          <a:cs typeface="Cambria" pitchFamily="34" charset="-120"/>
                        </a:rPr>
                        <a:t>B-</a:t>
                      </a:r>
                      <a:endParaRPr lang="en-US" sz="1500" dirty="0">
                        <a:latin typeface="Cambria" charset="0"/>
                        <a:ea typeface="Cambria" charset="0"/>
                        <a:cs typeface="Cambria" charset="0"/>
                      </a:endParaRPr>
                    </a:p>
                  </a:txBody>
                  <a:tcPr marL="91440" marR="91440" marT="45720" marB="45720" anchor="ctr">
                    <a:lnL w="9525" cap="flat" cmpd="sng" algn="ctr">
                      <a:solidFill>
                        <a:srgbClr val="DCE8E2"/>
                      </a:solidFill>
                      <a:prstDash val="solid"/>
                      <a:round/>
                      <a:headEnd type="none" w="med" len="med"/>
                      <a:tailEnd type="none" w="med" len="med"/>
                    </a:lnL>
                    <a:lnR w="9525" cap="flat" cmpd="sng" algn="ctr">
                      <a:solidFill>
                        <a:srgbClr val="DCE8E2"/>
                      </a:solidFill>
                      <a:prstDash val="solid"/>
                      <a:round/>
                      <a:headEnd type="none" w="med" len="med"/>
                      <a:tailEnd type="none" w="med" len="med"/>
                    </a:lnR>
                    <a:lnT w="9525" cap="flat" cmpd="sng" algn="ctr">
                      <a:solidFill>
                        <a:srgbClr val="DCE8E2"/>
                      </a:solidFill>
                      <a:prstDash val="solid"/>
                      <a:round/>
                      <a:headEnd type="none" w="med" len="med"/>
                      <a:tailEnd type="none" w="med" len="med"/>
                    </a:lnT>
                    <a:lnB w="9525" cap="flat" cmpd="sng" algn="ctr">
                      <a:solidFill>
                        <a:srgbClr val="DCE8E2"/>
                      </a:solidFill>
                      <a:prstDash val="solid"/>
                      <a:round/>
                      <a:headEnd type="none" w="med" len="med"/>
                      <a:tailEnd type="none" w="med" len="med"/>
                    </a:lnB>
                    <a:solidFill>
                      <a:srgbClr val="EAF3EF"/>
                    </a:solidFill>
                  </a:tcPr>
                </a:tc>
              </a:tr>
              <a:tr h="475488">
                <a:tc>
                  <a:txBody>
                    <a:bodyPr/>
                    <a:lstStyle/>
                    <a:p>
                      <a:pPr indent="0" marL="0">
                        <a:buNone/>
                      </a:pPr>
                      <a:r>
                        <a:rPr lang="en-US" sz="1300" dirty="0">
                          <a:solidFill>
                            <a:srgbClr val="1C2B25"/>
                          </a:solidFill>
                          <a:latin typeface="Calibri" pitchFamily="34" charset="0"/>
                          <a:ea typeface="Calibri" pitchFamily="34" charset="-122"/>
                          <a:cs typeface="Calibri" pitchFamily="34" charset="-120"/>
                        </a:rPr>
                        <a:t>Anchor-investor targeting</a:t>
                      </a:r>
                      <a:endParaRPr lang="en-US" sz="1300" dirty="0">
                        <a:latin typeface="Calibri" charset="0"/>
                        <a:ea typeface="Calibri" charset="0"/>
                        <a:cs typeface="Calibri" charset="0"/>
                      </a:endParaRPr>
                    </a:p>
                  </a:txBody>
                  <a:tcPr marL="91440" marR="91440" marT="45720" marB="45720" anchor="ctr">
                    <a:lnL w="9525" cap="flat" cmpd="sng" algn="ctr">
                      <a:solidFill>
                        <a:srgbClr val="DCE8E2"/>
                      </a:solidFill>
                      <a:prstDash val="solid"/>
                      <a:round/>
                      <a:headEnd type="none" w="med" len="med"/>
                      <a:tailEnd type="none" w="med" len="med"/>
                    </a:lnL>
                    <a:lnR w="9525" cap="flat" cmpd="sng" algn="ctr">
                      <a:solidFill>
                        <a:srgbClr val="DCE8E2"/>
                      </a:solidFill>
                      <a:prstDash val="solid"/>
                      <a:round/>
                      <a:headEnd type="none" w="med" len="med"/>
                      <a:tailEnd type="none" w="med" len="med"/>
                    </a:lnR>
                    <a:lnT w="9525" cap="flat" cmpd="sng" algn="ctr">
                      <a:solidFill>
                        <a:srgbClr val="DCE8E2"/>
                      </a:solidFill>
                      <a:prstDash val="solid"/>
                      <a:round/>
                      <a:headEnd type="none" w="med" len="med"/>
                      <a:tailEnd type="none" w="med" len="med"/>
                    </a:lnT>
                    <a:lnB w="9525" cap="flat" cmpd="sng" algn="ctr">
                      <a:solidFill>
                        <a:srgbClr val="DCE8E2"/>
                      </a:solidFill>
                      <a:prstDash val="solid"/>
                      <a:round/>
                      <a:headEnd type="none" w="med" len="med"/>
                      <a:tailEnd type="none" w="med" len="med"/>
                    </a:lnB>
                    <a:solidFill>
                      <a:srgbClr val="FFFFFF"/>
                    </a:solidFill>
                  </a:tcPr>
                </a:tc>
                <a:tc>
                  <a:txBody>
                    <a:bodyPr/>
                    <a:lstStyle/>
                    <a:p>
                      <a:pPr algn="ctr" indent="0" marL="0">
                        <a:buNone/>
                      </a:pPr>
                      <a:r>
                        <a:rPr lang="en-US" sz="1500" b="1" dirty="0">
                          <a:solidFill>
                            <a:srgbClr val="C9A227"/>
                          </a:solidFill>
                          <a:latin typeface="Cambria" pitchFamily="34" charset="0"/>
                          <a:ea typeface="Cambria" pitchFamily="34" charset="-122"/>
                          <a:cs typeface="Cambria" pitchFamily="34" charset="-120"/>
                        </a:rPr>
                        <a:t>B-</a:t>
                      </a:r>
                      <a:endParaRPr lang="en-US" sz="1500" dirty="0">
                        <a:latin typeface="Cambria" charset="0"/>
                        <a:ea typeface="Cambria" charset="0"/>
                        <a:cs typeface="Cambria" charset="0"/>
                      </a:endParaRPr>
                    </a:p>
                  </a:txBody>
                  <a:tcPr marL="91440" marR="91440" marT="45720" marB="45720" anchor="ctr">
                    <a:lnL w="9525" cap="flat" cmpd="sng" algn="ctr">
                      <a:solidFill>
                        <a:srgbClr val="DCE8E2"/>
                      </a:solidFill>
                      <a:prstDash val="solid"/>
                      <a:round/>
                      <a:headEnd type="none" w="med" len="med"/>
                      <a:tailEnd type="none" w="med" len="med"/>
                    </a:lnL>
                    <a:lnR w="9525" cap="flat" cmpd="sng" algn="ctr">
                      <a:solidFill>
                        <a:srgbClr val="DCE8E2"/>
                      </a:solidFill>
                      <a:prstDash val="solid"/>
                      <a:round/>
                      <a:headEnd type="none" w="med" len="med"/>
                      <a:tailEnd type="none" w="med" len="med"/>
                    </a:lnR>
                    <a:lnT w="9525" cap="flat" cmpd="sng" algn="ctr">
                      <a:solidFill>
                        <a:srgbClr val="DCE8E2"/>
                      </a:solidFill>
                      <a:prstDash val="solid"/>
                      <a:round/>
                      <a:headEnd type="none" w="med" len="med"/>
                      <a:tailEnd type="none" w="med" len="med"/>
                    </a:lnT>
                    <a:lnB w="9525" cap="flat" cmpd="sng" algn="ctr">
                      <a:solidFill>
                        <a:srgbClr val="DCE8E2"/>
                      </a:solidFill>
                      <a:prstDash val="solid"/>
                      <a:round/>
                      <a:headEnd type="none" w="med" len="med"/>
                      <a:tailEnd type="none" w="med" len="med"/>
                    </a:lnB>
                    <a:solidFill>
                      <a:srgbClr val="FFFFFF"/>
                    </a:solidFill>
                  </a:tcPr>
                </a:tc>
              </a:tr>
            </a:tbl>
          </a:graphicData>
        </a:graphic>
      </p:graphicFrame>
      <p:sp>
        <p:nvSpPr>
          <p:cNvPr id="5" name="Shape 2"/>
          <p:cNvSpPr/>
          <p:nvPr/>
        </p:nvSpPr>
        <p:spPr>
          <a:xfrm>
            <a:off x="6858000" y="1600200"/>
            <a:ext cx="4754880" cy="3063240"/>
          </a:xfrm>
          <a:prstGeom prst="roundRect">
            <a:avLst>
              <a:gd name="adj" fmla="val 2388"/>
            </a:avLst>
          </a:prstGeom>
          <a:solidFill>
            <a:srgbClr val="EAF3EF"/>
          </a:solidFill>
          <a:ln/>
        </p:spPr>
      </p:sp>
      <p:sp>
        <p:nvSpPr>
          <p:cNvPr id="6" name="Text 3"/>
          <p:cNvSpPr/>
          <p:nvPr/>
        </p:nvSpPr>
        <p:spPr>
          <a:xfrm>
            <a:off x="7178040" y="1874520"/>
            <a:ext cx="4114800" cy="2103120"/>
          </a:xfrm>
          <a:prstGeom prst="rect">
            <a:avLst/>
          </a:prstGeom>
          <a:noFill/>
          <a:ln/>
        </p:spPr>
        <p:txBody>
          <a:bodyPr wrap="square" lIns="0" tIns="0" rIns="0" bIns="0" rtlCol="0" anchor="ctr"/>
          <a:lstStyle/>
          <a:p>
            <a:pPr indent="0" marL="0">
              <a:buNone/>
            </a:pPr>
            <a:r>
              <a:rPr lang="en-US" sz="1500" i="1" dirty="0">
                <a:solidFill>
                  <a:srgbClr val="1C2B25"/>
                </a:solidFill>
                <a:latin typeface="Cambria" pitchFamily="34" charset="0"/>
                <a:ea typeface="Cambria" pitchFamily="34" charset="-122"/>
                <a:cs typeface="Cambria" pitchFamily="34" charset="-120"/>
              </a:rPr>
              <a:t>“Fit for purpose as a supplier-ecosystem screening and triage instrument, with known, labeled limitations. A year of vendor tools has crossed my desk claiming more and delivering less.”</a:t>
            </a:r>
            <a:endParaRPr lang="en-US" sz="1500" dirty="0"/>
          </a:p>
        </p:txBody>
      </p:sp>
      <p:sp>
        <p:nvSpPr>
          <p:cNvPr id="7" name="Text 4"/>
          <p:cNvSpPr/>
          <p:nvPr/>
        </p:nvSpPr>
        <p:spPr>
          <a:xfrm>
            <a:off x="7178040" y="4069080"/>
            <a:ext cx="4114800" cy="320040"/>
          </a:xfrm>
          <a:prstGeom prst="rect">
            <a:avLst/>
          </a:prstGeom>
          <a:noFill/>
          <a:ln/>
        </p:spPr>
        <p:txBody>
          <a:bodyPr wrap="square" lIns="0" tIns="0" rIns="0" bIns="0" rtlCol="0" anchor="ctr"/>
          <a:lstStyle/>
          <a:p>
            <a:pPr indent="0" marL="0">
              <a:buNone/>
            </a:pPr>
            <a:r>
              <a:rPr lang="en-US" sz="1150" dirty="0">
                <a:solidFill>
                  <a:srgbClr val="5E6E66"/>
                </a:solidFill>
                <a:latin typeface="Calibri" pitchFamily="34" charset="0"/>
                <a:ea typeface="Calibri" pitchFamily="34" charset="-122"/>
                <a:cs typeface="Calibri" pitchFamily="34" charset="-120"/>
              </a:rPr>
              <a:t>Independent market-attraction review, July 2026</a:t>
            </a:r>
            <a:endParaRPr lang="en-US" sz="1150" dirty="0"/>
          </a:p>
        </p:txBody>
      </p:sp>
      <p:sp>
        <p:nvSpPr>
          <p:cNvPr id="8" name="Text 5"/>
          <p:cNvSpPr/>
          <p:nvPr/>
        </p:nvSpPr>
        <p:spPr>
          <a:xfrm>
            <a:off x="548640" y="5074920"/>
            <a:ext cx="11064240" cy="685800"/>
          </a:xfrm>
          <a:prstGeom prst="rect">
            <a:avLst/>
          </a:prstGeom>
          <a:noFill/>
          <a:ln/>
        </p:spPr>
        <p:txBody>
          <a:bodyPr wrap="square" lIns="0" tIns="0" rIns="0" bIns="0" rtlCol="0" anchor="ctr"/>
          <a:lstStyle/>
          <a:p>
            <a:pPr indent="0" marL="0">
              <a:buNone/>
            </a:pPr>
            <a:r>
              <a:rPr lang="en-US" sz="1400" b="1" dirty="0">
                <a:solidFill>
                  <a:srgbClr val="1C2B25"/>
                </a:solidFill>
                <a:latin typeface="Calibri" pitchFamily="34" charset="0"/>
                <a:ea typeface="Calibri" pitchFamily="34" charset="-122"/>
                <a:cs typeface="Calibri" pitchFamily="34" charset="-120"/>
              </a:rPr>
              <a:t>The B- grades are the roadmap: </a:t>
            </a:r>
            <a:pPr indent="0" marL="0">
              <a:buNone/>
            </a:pPr>
            <a:r>
              <a:rPr lang="en-US" sz="1400" dirty="0">
                <a:solidFill>
                  <a:srgbClr val="5E6E66"/>
                </a:solidFill>
                <a:latin typeface="Calibri" pitchFamily="34" charset="0"/>
                <a:ea typeface="Calibri" pitchFamily="34" charset="-122"/>
                <a:cs typeface="Calibri" pitchFamily="34" charset="-120"/>
              </a:rPr>
              <a:t>label calibration tightens with analyst verdicts; anchor targeting requires sourcing beyond this roster. Both are planned, neither is a rewrite.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02714E"/>
                </a:solidFill>
                <a:latin typeface="Calibri" pitchFamily="34" charset="0"/>
                <a:ea typeface="Calibri" pitchFamily="34" charset="-122"/>
                <a:cs typeface="Calibri" pitchFamily="34" charset="-120"/>
              </a:rPr>
              <a:t>HONEST RISK POSTURE</a:t>
            </a:r>
            <a:endParaRPr lang="en-US" sz="1200" dirty="0"/>
          </a:p>
        </p:txBody>
      </p:sp>
      <p:sp>
        <p:nvSpPr>
          <p:cNvPr id="3" name="Text 1"/>
          <p:cNvSpPr/>
          <p:nvPr/>
        </p:nvSpPr>
        <p:spPr>
          <a:xfrm>
            <a:off x="548640" y="640080"/>
            <a:ext cx="11064240" cy="685800"/>
          </a:xfrm>
          <a:prstGeom prst="rect">
            <a:avLst/>
          </a:prstGeom>
          <a:noFill/>
          <a:ln/>
        </p:spPr>
        <p:txBody>
          <a:bodyPr wrap="square" lIns="0" tIns="0" rIns="0" bIns="0" rtlCol="0" anchor="ctr"/>
          <a:lstStyle/>
          <a:p>
            <a:pPr indent="0" marL="0">
              <a:buNone/>
            </a:pPr>
            <a:r>
              <a:rPr lang="en-US" sz="3200" b="1" dirty="0">
                <a:solidFill>
                  <a:srgbClr val="1C2B25"/>
                </a:solidFill>
                <a:latin typeface="Cambria" pitchFamily="34" charset="0"/>
                <a:ea typeface="Cambria" pitchFamily="34" charset="-122"/>
                <a:cs typeface="Cambria" pitchFamily="34" charset="-120"/>
              </a:rPr>
              <a:t>Why this is not a national platform yet</a:t>
            </a:r>
            <a:endParaRPr lang="en-US" sz="3200" dirty="0"/>
          </a:p>
        </p:txBody>
      </p:sp>
      <p:sp>
        <p:nvSpPr>
          <p:cNvPr id="4" name="Shape 2"/>
          <p:cNvSpPr/>
          <p:nvPr/>
        </p:nvSpPr>
        <p:spPr>
          <a:xfrm>
            <a:off x="548640" y="1554480"/>
            <a:ext cx="5440680" cy="2103120"/>
          </a:xfrm>
          <a:prstGeom prst="roundRect">
            <a:avLst>
              <a:gd name="adj" fmla="val 3478"/>
            </a:avLst>
          </a:prstGeom>
          <a:solidFill>
            <a:srgbClr val="EAF3EF"/>
          </a:solidFill>
          <a:ln/>
        </p:spPr>
      </p:sp>
      <p:sp>
        <p:nvSpPr>
          <p:cNvPr id="5" name="Shape 3"/>
          <p:cNvSpPr/>
          <p:nvPr/>
        </p:nvSpPr>
        <p:spPr>
          <a:xfrm>
            <a:off x="822960" y="1847088"/>
            <a:ext cx="603504" cy="603504"/>
          </a:xfrm>
          <a:prstGeom prst="ellipse">
            <a:avLst/>
          </a:prstGeom>
          <a:solidFill>
            <a:srgbClr val="C9A227"/>
          </a:solidFill>
          <a:ln/>
        </p:spPr>
      </p:sp>
      <p:pic>
        <p:nvPicPr>
          <p:cNvPr id="6" name="Image 0" descr="preencoded.png">    </p:cNvPr>
          <p:cNvPicPr>
            <a:picLocks noChangeAspect="1"/>
          </p:cNvPicPr>
          <p:nvPr/>
        </p:nvPicPr>
        <p:blipFill>
          <a:blip r:embed="rId1"/>
          <a:stretch>
            <a:fillRect/>
          </a:stretch>
        </p:blipFill>
        <p:spPr>
          <a:xfrm>
            <a:off x="979871" y="2003999"/>
            <a:ext cx="289682" cy="289682"/>
          </a:xfrm>
          <a:prstGeom prst="rect">
            <a:avLst/>
          </a:prstGeom>
        </p:spPr>
      </p:pic>
      <p:sp>
        <p:nvSpPr>
          <p:cNvPr id="7" name="Text 4"/>
          <p:cNvSpPr/>
          <p:nvPr/>
        </p:nvSpPr>
        <p:spPr>
          <a:xfrm>
            <a:off x="1645920" y="1874520"/>
            <a:ext cx="4114800" cy="365760"/>
          </a:xfrm>
          <a:prstGeom prst="rect">
            <a:avLst/>
          </a:prstGeom>
          <a:noFill/>
          <a:ln/>
        </p:spPr>
        <p:txBody>
          <a:bodyPr wrap="square" lIns="0" tIns="0" rIns="0" bIns="0" rtlCol="0" anchor="ctr"/>
          <a:lstStyle/>
          <a:p>
            <a:pPr indent="0" marL="0">
              <a:buNone/>
            </a:pPr>
            <a:r>
              <a:rPr lang="en-US" sz="1600" b="1" dirty="0">
                <a:solidFill>
                  <a:srgbClr val="1C2B25"/>
                </a:solidFill>
                <a:latin typeface="Calibri" pitchFamily="34" charset="0"/>
                <a:ea typeface="Calibri" pitchFamily="34" charset="-122"/>
                <a:cs typeface="Calibri" pitchFamily="34" charset="-120"/>
              </a:rPr>
              <a:t>Judgment risk</a:t>
            </a:r>
            <a:endParaRPr lang="en-US" sz="1600" dirty="0"/>
          </a:p>
        </p:txBody>
      </p:sp>
      <p:sp>
        <p:nvSpPr>
          <p:cNvPr id="8" name="Text 5"/>
          <p:cNvSpPr/>
          <p:nvPr/>
        </p:nvSpPr>
        <p:spPr>
          <a:xfrm>
            <a:off x="1645920" y="2286000"/>
            <a:ext cx="4114800" cy="1234440"/>
          </a:xfrm>
          <a:prstGeom prst="rect">
            <a:avLst/>
          </a:prstGeom>
          <a:noFill/>
          <a:ln/>
        </p:spPr>
        <p:txBody>
          <a:bodyPr wrap="square" lIns="0" tIns="0" rIns="0" bIns="0" rtlCol="0" anchor="ctr"/>
          <a:lstStyle/>
          <a:p>
            <a:pPr indent="0" marL="0">
              <a:buNone/>
            </a:pPr>
            <a:r>
              <a:rPr lang="en-US" sz="1300" dirty="0">
                <a:solidFill>
                  <a:srgbClr val="5E6E66"/>
                </a:solidFill>
                <a:latin typeface="Calibri" pitchFamily="34" charset="0"/>
                <a:ea typeface="Calibri" pitchFamily="34" charset="-122"/>
                <a:cs typeface="Calibri" pitchFamily="34" charset="-120"/>
              </a:rPr>
              <a:t>AI verdicts calibrated on a small label pool; no match yet validated against a real-world outcome. Needs a quarter of shadow validation.</a:t>
            </a:r>
            <a:endParaRPr lang="en-US" sz="1300" dirty="0"/>
          </a:p>
        </p:txBody>
      </p:sp>
      <p:sp>
        <p:nvSpPr>
          <p:cNvPr id="9" name="Shape 6"/>
          <p:cNvSpPr/>
          <p:nvPr/>
        </p:nvSpPr>
        <p:spPr>
          <a:xfrm>
            <a:off x="6263640" y="1554480"/>
            <a:ext cx="5440680" cy="2103120"/>
          </a:xfrm>
          <a:prstGeom prst="roundRect">
            <a:avLst>
              <a:gd name="adj" fmla="val 3478"/>
            </a:avLst>
          </a:prstGeom>
          <a:solidFill>
            <a:srgbClr val="EAF3EF"/>
          </a:solidFill>
          <a:ln/>
        </p:spPr>
      </p:sp>
      <p:sp>
        <p:nvSpPr>
          <p:cNvPr id="10" name="Shape 7"/>
          <p:cNvSpPr/>
          <p:nvPr/>
        </p:nvSpPr>
        <p:spPr>
          <a:xfrm>
            <a:off x="6537960" y="1847088"/>
            <a:ext cx="603504" cy="603504"/>
          </a:xfrm>
          <a:prstGeom prst="ellipse">
            <a:avLst/>
          </a:prstGeom>
          <a:solidFill>
            <a:srgbClr val="C9A227"/>
          </a:solidFill>
          <a:ln/>
        </p:spPr>
      </p:sp>
      <p:pic>
        <p:nvPicPr>
          <p:cNvPr id="11" name="Image 1" descr="preencoded.png">    </p:cNvPr>
          <p:cNvPicPr>
            <a:picLocks noChangeAspect="1"/>
          </p:cNvPicPr>
          <p:nvPr/>
        </p:nvPicPr>
        <p:blipFill>
          <a:blip r:embed="rId2"/>
          <a:stretch>
            <a:fillRect/>
          </a:stretch>
        </p:blipFill>
        <p:spPr>
          <a:xfrm>
            <a:off x="6694871" y="2003999"/>
            <a:ext cx="289682" cy="289682"/>
          </a:xfrm>
          <a:prstGeom prst="rect">
            <a:avLst/>
          </a:prstGeom>
        </p:spPr>
      </p:pic>
      <p:sp>
        <p:nvSpPr>
          <p:cNvPr id="12" name="Text 8"/>
          <p:cNvSpPr/>
          <p:nvPr/>
        </p:nvSpPr>
        <p:spPr>
          <a:xfrm>
            <a:off x="7360920" y="1874520"/>
            <a:ext cx="4114800" cy="365760"/>
          </a:xfrm>
          <a:prstGeom prst="rect">
            <a:avLst/>
          </a:prstGeom>
          <a:noFill/>
          <a:ln/>
        </p:spPr>
        <p:txBody>
          <a:bodyPr wrap="square" lIns="0" tIns="0" rIns="0" bIns="0" rtlCol="0" anchor="ctr"/>
          <a:lstStyle/>
          <a:p>
            <a:pPr indent="0" marL="0">
              <a:buNone/>
            </a:pPr>
            <a:r>
              <a:rPr lang="en-US" sz="1600" b="1" dirty="0">
                <a:solidFill>
                  <a:srgbClr val="1C2B25"/>
                </a:solidFill>
                <a:latin typeface="Calibri" pitchFamily="34" charset="0"/>
                <a:ea typeface="Calibri" pitchFamily="34" charset="-122"/>
                <a:cs typeface="Calibri" pitchFamily="34" charset="-120"/>
              </a:rPr>
              <a:t>Data risk</a:t>
            </a:r>
            <a:endParaRPr lang="en-US" sz="1600" dirty="0"/>
          </a:p>
        </p:txBody>
      </p:sp>
      <p:sp>
        <p:nvSpPr>
          <p:cNvPr id="13" name="Text 9"/>
          <p:cNvSpPr/>
          <p:nvPr/>
        </p:nvSpPr>
        <p:spPr>
          <a:xfrm>
            <a:off x="7360920" y="2286000"/>
            <a:ext cx="4114800" cy="1234440"/>
          </a:xfrm>
          <a:prstGeom prst="rect">
            <a:avLst/>
          </a:prstGeom>
          <a:noFill/>
          <a:ln/>
        </p:spPr>
        <p:txBody>
          <a:bodyPr wrap="square" lIns="0" tIns="0" rIns="0" bIns="0" rtlCol="0" anchor="ctr"/>
          <a:lstStyle/>
          <a:p>
            <a:pPr indent="0" marL="0">
              <a:buNone/>
            </a:pPr>
            <a:r>
              <a:rPr lang="en-US" sz="1300" dirty="0">
                <a:solidFill>
                  <a:srgbClr val="5E6E66"/>
                </a:solidFill>
                <a:latin typeface="Calibri" pitchFamily="34" charset="0"/>
                <a:ea typeface="Calibri" pitchFamily="34" charset="-122"/>
                <a:cs typeface="Calibri" pitchFamily="34" charset="-120"/>
              </a:rPr>
              <a:t>61 self-described company profiles, no ingestion pipeline, no fact verification. National scale means thousands of records with provenance.</a:t>
            </a:r>
            <a:endParaRPr lang="en-US" sz="1300" dirty="0"/>
          </a:p>
        </p:txBody>
      </p:sp>
      <p:sp>
        <p:nvSpPr>
          <p:cNvPr id="14" name="Shape 10"/>
          <p:cNvSpPr/>
          <p:nvPr/>
        </p:nvSpPr>
        <p:spPr>
          <a:xfrm>
            <a:off x="548640" y="3886200"/>
            <a:ext cx="5440680" cy="2103120"/>
          </a:xfrm>
          <a:prstGeom prst="roundRect">
            <a:avLst>
              <a:gd name="adj" fmla="val 3478"/>
            </a:avLst>
          </a:prstGeom>
          <a:solidFill>
            <a:srgbClr val="EAF3EF"/>
          </a:solidFill>
          <a:ln/>
        </p:spPr>
      </p:sp>
      <p:sp>
        <p:nvSpPr>
          <p:cNvPr id="15" name="Shape 11"/>
          <p:cNvSpPr/>
          <p:nvPr/>
        </p:nvSpPr>
        <p:spPr>
          <a:xfrm>
            <a:off x="822960" y="4178808"/>
            <a:ext cx="603504" cy="603504"/>
          </a:xfrm>
          <a:prstGeom prst="ellipse">
            <a:avLst/>
          </a:prstGeom>
          <a:solidFill>
            <a:srgbClr val="C9A227"/>
          </a:solidFill>
          <a:ln/>
        </p:spPr>
      </p:sp>
      <p:pic>
        <p:nvPicPr>
          <p:cNvPr id="16" name="Image 2" descr="preencoded.png">    </p:cNvPr>
          <p:cNvPicPr>
            <a:picLocks noChangeAspect="1"/>
          </p:cNvPicPr>
          <p:nvPr/>
        </p:nvPicPr>
        <p:blipFill>
          <a:blip r:embed="rId3"/>
          <a:stretch>
            <a:fillRect/>
          </a:stretch>
        </p:blipFill>
        <p:spPr>
          <a:xfrm>
            <a:off x="979871" y="4335719"/>
            <a:ext cx="289682" cy="289682"/>
          </a:xfrm>
          <a:prstGeom prst="rect">
            <a:avLst/>
          </a:prstGeom>
        </p:spPr>
      </p:pic>
      <p:sp>
        <p:nvSpPr>
          <p:cNvPr id="17" name="Text 12"/>
          <p:cNvSpPr/>
          <p:nvPr/>
        </p:nvSpPr>
        <p:spPr>
          <a:xfrm>
            <a:off x="1645920" y="4206240"/>
            <a:ext cx="4114800" cy="365760"/>
          </a:xfrm>
          <a:prstGeom prst="rect">
            <a:avLst/>
          </a:prstGeom>
          <a:noFill/>
          <a:ln/>
        </p:spPr>
        <p:txBody>
          <a:bodyPr wrap="square" lIns="0" tIns="0" rIns="0" bIns="0" rtlCol="0" anchor="ctr"/>
          <a:lstStyle/>
          <a:p>
            <a:pPr indent="0" marL="0">
              <a:buNone/>
            </a:pPr>
            <a:r>
              <a:rPr lang="en-US" sz="1600" b="1" dirty="0">
                <a:solidFill>
                  <a:srgbClr val="1C2B25"/>
                </a:solidFill>
                <a:latin typeface="Calibri" pitchFamily="34" charset="0"/>
                <a:ea typeface="Calibri" pitchFamily="34" charset="-122"/>
                <a:cs typeface="Calibri" pitchFamily="34" charset="-120"/>
              </a:rPr>
              <a:t>Sovereignty gap</a:t>
            </a:r>
            <a:endParaRPr lang="en-US" sz="1600" dirty="0"/>
          </a:p>
        </p:txBody>
      </p:sp>
      <p:sp>
        <p:nvSpPr>
          <p:cNvPr id="18" name="Text 13"/>
          <p:cNvSpPr/>
          <p:nvPr/>
        </p:nvSpPr>
        <p:spPr>
          <a:xfrm>
            <a:off x="1645920" y="4617720"/>
            <a:ext cx="4114800" cy="1234440"/>
          </a:xfrm>
          <a:prstGeom prst="rect">
            <a:avLst/>
          </a:prstGeom>
          <a:noFill/>
          <a:ln/>
        </p:spPr>
        <p:txBody>
          <a:bodyPr wrap="square" lIns="0" tIns="0" rIns="0" bIns="0" rtlCol="0" anchor="ctr"/>
          <a:lstStyle/>
          <a:p>
            <a:pPr indent="0" marL="0">
              <a:buNone/>
            </a:pPr>
            <a:r>
              <a:rPr lang="en-US" sz="1300" dirty="0">
                <a:solidFill>
                  <a:srgbClr val="5E6E66"/>
                </a:solidFill>
                <a:latin typeface="Calibri" pitchFamily="34" charset="0"/>
                <a:ea typeface="Calibri" pitchFamily="34" charset="-122"/>
                <a:cs typeface="Calibri" pitchFamily="34" charset="-120"/>
              </a:rPr>
              <a:t>Company data currently flows to a public AI API. The in-tenant Azure path exists; one embeddings deployment closes it.</a:t>
            </a:r>
            <a:endParaRPr lang="en-US" sz="1300" dirty="0"/>
          </a:p>
        </p:txBody>
      </p:sp>
      <p:sp>
        <p:nvSpPr>
          <p:cNvPr id="19" name="Shape 14"/>
          <p:cNvSpPr/>
          <p:nvPr/>
        </p:nvSpPr>
        <p:spPr>
          <a:xfrm>
            <a:off x="6263640" y="3886200"/>
            <a:ext cx="5440680" cy="2103120"/>
          </a:xfrm>
          <a:prstGeom prst="roundRect">
            <a:avLst>
              <a:gd name="adj" fmla="val 3478"/>
            </a:avLst>
          </a:prstGeom>
          <a:solidFill>
            <a:srgbClr val="EAF3EF"/>
          </a:solidFill>
          <a:ln/>
        </p:spPr>
      </p:sp>
      <p:sp>
        <p:nvSpPr>
          <p:cNvPr id="20" name="Shape 15"/>
          <p:cNvSpPr/>
          <p:nvPr/>
        </p:nvSpPr>
        <p:spPr>
          <a:xfrm>
            <a:off x="6537960" y="4178808"/>
            <a:ext cx="603504" cy="603504"/>
          </a:xfrm>
          <a:prstGeom prst="ellipse">
            <a:avLst/>
          </a:prstGeom>
          <a:solidFill>
            <a:srgbClr val="C9A227"/>
          </a:solidFill>
          <a:ln/>
        </p:spPr>
      </p:sp>
      <p:pic>
        <p:nvPicPr>
          <p:cNvPr id="21" name="Image 3" descr="preencoded.png">    </p:cNvPr>
          <p:cNvPicPr>
            <a:picLocks noChangeAspect="1"/>
          </p:cNvPicPr>
          <p:nvPr/>
        </p:nvPicPr>
        <p:blipFill>
          <a:blip r:embed="rId4"/>
          <a:stretch>
            <a:fillRect/>
          </a:stretch>
        </p:blipFill>
        <p:spPr>
          <a:xfrm>
            <a:off x="6694871" y="4335719"/>
            <a:ext cx="289682" cy="289682"/>
          </a:xfrm>
          <a:prstGeom prst="rect">
            <a:avLst/>
          </a:prstGeom>
        </p:spPr>
      </p:pic>
      <p:sp>
        <p:nvSpPr>
          <p:cNvPr id="22" name="Text 16"/>
          <p:cNvSpPr/>
          <p:nvPr/>
        </p:nvSpPr>
        <p:spPr>
          <a:xfrm>
            <a:off x="7360920" y="4206240"/>
            <a:ext cx="4114800" cy="365760"/>
          </a:xfrm>
          <a:prstGeom prst="rect">
            <a:avLst/>
          </a:prstGeom>
          <a:noFill/>
          <a:ln/>
        </p:spPr>
        <p:txBody>
          <a:bodyPr wrap="square" lIns="0" tIns="0" rIns="0" bIns="0" rtlCol="0" anchor="ctr"/>
          <a:lstStyle/>
          <a:p>
            <a:pPr indent="0" marL="0">
              <a:buNone/>
            </a:pPr>
            <a:r>
              <a:rPr lang="en-US" sz="1600" b="1" dirty="0">
                <a:solidFill>
                  <a:srgbClr val="1C2B25"/>
                </a:solidFill>
                <a:latin typeface="Calibri" pitchFamily="34" charset="0"/>
                <a:ea typeface="Calibri" pitchFamily="34" charset="-122"/>
                <a:cs typeface="Calibri" pitchFamily="34" charset="-120"/>
              </a:rPr>
              <a:t>Reputational exposure</a:t>
            </a:r>
            <a:endParaRPr lang="en-US" sz="1600" dirty="0"/>
          </a:p>
        </p:txBody>
      </p:sp>
      <p:sp>
        <p:nvSpPr>
          <p:cNvPr id="23" name="Text 17"/>
          <p:cNvSpPr/>
          <p:nvPr/>
        </p:nvSpPr>
        <p:spPr>
          <a:xfrm>
            <a:off x="7360920" y="4617720"/>
            <a:ext cx="4114800" cy="1234440"/>
          </a:xfrm>
          <a:prstGeom prst="rect">
            <a:avLst/>
          </a:prstGeom>
          <a:noFill/>
          <a:ln/>
        </p:spPr>
        <p:txBody>
          <a:bodyPr wrap="square" lIns="0" tIns="0" rIns="0" bIns="0" rtlCol="0" anchor="ctr"/>
          <a:lstStyle/>
          <a:p>
            <a:pPr indent="0" marL="0">
              <a:buNone/>
            </a:pPr>
            <a:r>
              <a:rPr lang="en-US" sz="1300" dirty="0">
                <a:solidFill>
                  <a:srgbClr val="5E6E66"/>
                </a:solidFill>
                <a:latin typeface="Calibri" pitchFamily="34" charset="0"/>
                <a:ea typeface="Calibri" pitchFamily="34" charset="-122"/>
                <a:cs typeface="Calibri" pitchFamily="34" charset="-120"/>
              </a:rPr>
              <a:t>Model-written statements about real, named companies need governance, legal review and an appeal process before anything is published.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02714E"/>
                </a:solidFill>
                <a:latin typeface="Calibri" pitchFamily="34" charset="0"/>
                <a:ea typeface="Calibri" pitchFamily="34" charset="-122"/>
                <a:cs typeface="Calibri" pitchFamily="34" charset="-120"/>
              </a:rPr>
              <a:t>THE PATH</a:t>
            </a:r>
            <a:endParaRPr lang="en-US" sz="1200" dirty="0"/>
          </a:p>
        </p:txBody>
      </p:sp>
      <p:sp>
        <p:nvSpPr>
          <p:cNvPr id="3" name="Text 1"/>
          <p:cNvSpPr/>
          <p:nvPr/>
        </p:nvSpPr>
        <p:spPr>
          <a:xfrm>
            <a:off x="548640" y="640080"/>
            <a:ext cx="11064240" cy="685800"/>
          </a:xfrm>
          <a:prstGeom prst="rect">
            <a:avLst/>
          </a:prstGeom>
          <a:noFill/>
          <a:ln/>
        </p:spPr>
        <p:txBody>
          <a:bodyPr wrap="square" lIns="0" tIns="0" rIns="0" bIns="0" rtlCol="0" anchor="ctr"/>
          <a:lstStyle/>
          <a:p>
            <a:pPr indent="0" marL="0">
              <a:buNone/>
            </a:pPr>
            <a:r>
              <a:rPr lang="en-US" sz="3200" b="1" dirty="0">
                <a:solidFill>
                  <a:srgbClr val="1C2B25"/>
                </a:solidFill>
                <a:latin typeface="Cambria" pitchFamily="34" charset="0"/>
                <a:ea typeface="Cambria" pitchFamily="34" charset="-122"/>
                <a:cs typeface="Cambria" pitchFamily="34" charset="-120"/>
              </a:rPr>
              <a:t>Six to nine months to a governed national launch</a:t>
            </a:r>
            <a:endParaRPr lang="en-US" sz="3200" dirty="0"/>
          </a:p>
        </p:txBody>
      </p:sp>
      <p:sp>
        <p:nvSpPr>
          <p:cNvPr id="4" name="Shape 2"/>
          <p:cNvSpPr/>
          <p:nvPr/>
        </p:nvSpPr>
        <p:spPr>
          <a:xfrm>
            <a:off x="548640" y="1600200"/>
            <a:ext cx="2670048" cy="2148840"/>
          </a:xfrm>
          <a:prstGeom prst="roundRect">
            <a:avLst>
              <a:gd name="adj" fmla="val 3404"/>
            </a:avLst>
          </a:prstGeom>
          <a:solidFill>
            <a:srgbClr val="EAF3EF"/>
          </a:solidFill>
          <a:ln/>
        </p:spPr>
      </p:sp>
      <p:sp>
        <p:nvSpPr>
          <p:cNvPr id="5" name="Shape 3"/>
          <p:cNvSpPr/>
          <p:nvPr/>
        </p:nvSpPr>
        <p:spPr>
          <a:xfrm>
            <a:off x="777240" y="1828800"/>
            <a:ext cx="502920" cy="502920"/>
          </a:xfrm>
          <a:prstGeom prst="ellipse">
            <a:avLst/>
          </a:prstGeom>
          <a:solidFill>
            <a:srgbClr val="02714E"/>
          </a:solidFill>
          <a:ln/>
        </p:spPr>
      </p:sp>
      <p:sp>
        <p:nvSpPr>
          <p:cNvPr id="6" name="Text 4"/>
          <p:cNvSpPr/>
          <p:nvPr/>
        </p:nvSpPr>
        <p:spPr>
          <a:xfrm>
            <a:off x="777240"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0</a:t>
            </a:r>
            <a:endParaRPr lang="en-US" sz="1800" dirty="0"/>
          </a:p>
        </p:txBody>
      </p:sp>
      <p:sp>
        <p:nvSpPr>
          <p:cNvPr id="7" name="Text 5"/>
          <p:cNvSpPr/>
          <p:nvPr/>
        </p:nvSpPr>
        <p:spPr>
          <a:xfrm>
            <a:off x="1417320" y="1901952"/>
            <a:ext cx="1691640" cy="365760"/>
          </a:xfrm>
          <a:prstGeom prst="rect">
            <a:avLst/>
          </a:prstGeom>
          <a:noFill/>
          <a:ln/>
        </p:spPr>
        <p:txBody>
          <a:bodyPr wrap="square" lIns="0" tIns="0" rIns="0" bIns="0" rtlCol="0" anchor="ctr"/>
          <a:lstStyle/>
          <a:p>
            <a:pPr indent="0" marL="0">
              <a:buNone/>
            </a:pPr>
            <a:r>
              <a:rPr lang="en-US" sz="1150" b="1" dirty="0">
                <a:solidFill>
                  <a:srgbClr val="5E6E66"/>
                </a:solidFill>
                <a:latin typeface="Calibri" pitchFamily="34" charset="0"/>
                <a:ea typeface="Calibri" pitchFamily="34" charset="-122"/>
                <a:cs typeface="Calibri" pitchFamily="34" charset="-120"/>
              </a:rPr>
              <a:t>wks 1-4</a:t>
            </a:r>
            <a:endParaRPr lang="en-US" sz="1150" dirty="0"/>
          </a:p>
        </p:txBody>
      </p:sp>
      <p:sp>
        <p:nvSpPr>
          <p:cNvPr id="8" name="Text 6"/>
          <p:cNvSpPr/>
          <p:nvPr/>
        </p:nvSpPr>
        <p:spPr>
          <a:xfrm>
            <a:off x="777240" y="2468880"/>
            <a:ext cx="2240280" cy="365760"/>
          </a:xfrm>
          <a:prstGeom prst="rect">
            <a:avLst/>
          </a:prstGeom>
          <a:noFill/>
          <a:ln/>
        </p:spPr>
        <p:txBody>
          <a:bodyPr wrap="square" lIns="0" tIns="0" rIns="0" bIns="0" rtlCol="0" anchor="ctr"/>
          <a:lstStyle/>
          <a:p>
            <a:pPr indent="0" marL="0">
              <a:buNone/>
            </a:pPr>
            <a:r>
              <a:rPr lang="en-US" sz="1450" b="1" dirty="0">
                <a:solidFill>
                  <a:srgbClr val="1C2B25"/>
                </a:solidFill>
                <a:latin typeface="Calibri" pitchFamily="34" charset="0"/>
                <a:ea typeface="Calibri" pitchFamily="34" charset="-122"/>
                <a:cs typeface="Calibri" pitchFamily="34" charset="-120"/>
              </a:rPr>
              <a:t>Pilot &amp; hygiene</a:t>
            </a:r>
            <a:endParaRPr lang="en-US" sz="1450" dirty="0"/>
          </a:p>
        </p:txBody>
      </p:sp>
      <p:sp>
        <p:nvSpPr>
          <p:cNvPr id="9" name="Text 7"/>
          <p:cNvSpPr/>
          <p:nvPr/>
        </p:nvSpPr>
        <p:spPr>
          <a:xfrm>
            <a:off x="777240" y="2834640"/>
            <a:ext cx="2240280" cy="822960"/>
          </a:xfrm>
          <a:prstGeom prst="rect">
            <a:avLst/>
          </a:prstGeom>
          <a:noFill/>
          <a:ln/>
        </p:spPr>
        <p:txBody>
          <a:bodyPr wrap="square" lIns="0" tIns="0" rIns="0" bIns="0" rtlCol="0" anchor="ctr"/>
          <a:lstStyle/>
          <a:p>
            <a:pPr indent="0" marL="0">
              <a:buNone/>
            </a:pPr>
            <a:r>
              <a:rPr lang="en-US" sz="1100" dirty="0">
                <a:solidFill>
                  <a:srgbClr val="5E6E66"/>
                </a:solidFill>
                <a:latin typeface="Calibri" pitchFamily="34" charset="0"/>
                <a:ea typeface="Calibri" pitchFamily="34" charset="-122"/>
                <a:cs typeface="Calibri" pitchFamily="34" charset="-120"/>
              </a:rPr>
              <a:t>Daily analyst use; grow verdicts to 100+; managed credentials</a:t>
            </a:r>
            <a:endParaRPr lang="en-US" sz="1100" dirty="0"/>
          </a:p>
        </p:txBody>
      </p:sp>
      <p:sp>
        <p:nvSpPr>
          <p:cNvPr id="10" name="Shape 8"/>
          <p:cNvSpPr/>
          <p:nvPr/>
        </p:nvSpPr>
        <p:spPr>
          <a:xfrm>
            <a:off x="3401568" y="1600200"/>
            <a:ext cx="2670048" cy="2148840"/>
          </a:xfrm>
          <a:prstGeom prst="roundRect">
            <a:avLst>
              <a:gd name="adj" fmla="val 3404"/>
            </a:avLst>
          </a:prstGeom>
          <a:solidFill>
            <a:srgbClr val="EAF3EF"/>
          </a:solidFill>
          <a:ln/>
        </p:spPr>
      </p:sp>
      <p:sp>
        <p:nvSpPr>
          <p:cNvPr id="11" name="Shape 9"/>
          <p:cNvSpPr/>
          <p:nvPr/>
        </p:nvSpPr>
        <p:spPr>
          <a:xfrm>
            <a:off x="3630168" y="1828800"/>
            <a:ext cx="502920" cy="502920"/>
          </a:xfrm>
          <a:prstGeom prst="ellipse">
            <a:avLst/>
          </a:prstGeom>
          <a:solidFill>
            <a:srgbClr val="02714E"/>
          </a:solidFill>
          <a:ln/>
        </p:spPr>
      </p:sp>
      <p:sp>
        <p:nvSpPr>
          <p:cNvPr id="12" name="Text 10"/>
          <p:cNvSpPr/>
          <p:nvPr/>
        </p:nvSpPr>
        <p:spPr>
          <a:xfrm>
            <a:off x="3630168"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3" name="Text 11"/>
          <p:cNvSpPr/>
          <p:nvPr/>
        </p:nvSpPr>
        <p:spPr>
          <a:xfrm>
            <a:off x="4270248" y="1901952"/>
            <a:ext cx="1691640" cy="365760"/>
          </a:xfrm>
          <a:prstGeom prst="rect">
            <a:avLst/>
          </a:prstGeom>
          <a:noFill/>
          <a:ln/>
        </p:spPr>
        <p:txBody>
          <a:bodyPr wrap="square" lIns="0" tIns="0" rIns="0" bIns="0" rtlCol="0" anchor="ctr"/>
          <a:lstStyle/>
          <a:p>
            <a:pPr indent="0" marL="0">
              <a:buNone/>
            </a:pPr>
            <a:r>
              <a:rPr lang="en-US" sz="1150" b="1" dirty="0">
                <a:solidFill>
                  <a:srgbClr val="5E6E66"/>
                </a:solidFill>
                <a:latin typeface="Calibri" pitchFamily="34" charset="0"/>
                <a:ea typeface="Calibri" pitchFamily="34" charset="-122"/>
                <a:cs typeface="Calibri" pitchFamily="34" charset="-120"/>
              </a:rPr>
              <a:t>mo 1-3</a:t>
            </a:r>
            <a:endParaRPr lang="en-US" sz="1150" dirty="0"/>
          </a:p>
        </p:txBody>
      </p:sp>
      <p:sp>
        <p:nvSpPr>
          <p:cNvPr id="14" name="Text 12"/>
          <p:cNvSpPr/>
          <p:nvPr/>
        </p:nvSpPr>
        <p:spPr>
          <a:xfrm>
            <a:off x="3630168" y="2468880"/>
            <a:ext cx="2240280" cy="365760"/>
          </a:xfrm>
          <a:prstGeom prst="rect">
            <a:avLst/>
          </a:prstGeom>
          <a:noFill/>
          <a:ln/>
        </p:spPr>
        <p:txBody>
          <a:bodyPr wrap="square" lIns="0" tIns="0" rIns="0" bIns="0" rtlCol="0" anchor="ctr"/>
          <a:lstStyle/>
          <a:p>
            <a:pPr indent="0" marL="0">
              <a:buNone/>
            </a:pPr>
            <a:r>
              <a:rPr lang="en-US" sz="1450" b="1" dirty="0">
                <a:solidFill>
                  <a:srgbClr val="1C2B25"/>
                </a:solidFill>
                <a:latin typeface="Calibri" pitchFamily="34" charset="0"/>
                <a:ea typeface="Calibri" pitchFamily="34" charset="-122"/>
                <a:cs typeface="Calibri" pitchFamily="34" charset="-120"/>
              </a:rPr>
              <a:t>Shadow validation</a:t>
            </a:r>
            <a:endParaRPr lang="en-US" sz="1450" dirty="0"/>
          </a:p>
        </p:txBody>
      </p:sp>
      <p:sp>
        <p:nvSpPr>
          <p:cNvPr id="15" name="Text 13"/>
          <p:cNvSpPr/>
          <p:nvPr/>
        </p:nvSpPr>
        <p:spPr>
          <a:xfrm>
            <a:off x="3630168" y="2834640"/>
            <a:ext cx="2240280" cy="822960"/>
          </a:xfrm>
          <a:prstGeom prst="rect">
            <a:avLst/>
          </a:prstGeom>
          <a:noFill/>
          <a:ln/>
        </p:spPr>
        <p:txBody>
          <a:bodyPr wrap="square" lIns="0" tIns="0" rIns="0" bIns="0" rtlCol="0" anchor="ctr"/>
          <a:lstStyle/>
          <a:p>
            <a:pPr indent="0" marL="0">
              <a:buNone/>
            </a:pPr>
            <a:r>
              <a:rPr lang="en-US" sz="1100" dirty="0">
                <a:solidFill>
                  <a:srgbClr val="5E6E66"/>
                </a:solidFill>
                <a:latin typeface="Calibri" pitchFamily="34" charset="0"/>
                <a:ea typeface="Calibri" pitchFamily="34" charset="-122"/>
                <a:cs typeface="Calibri" pitchFamily="34" charset="-120"/>
              </a:rPr>
              <a:t>Run beside real BD work; measure pursue-list precision</a:t>
            </a:r>
            <a:endParaRPr lang="en-US" sz="1100" dirty="0"/>
          </a:p>
        </p:txBody>
      </p:sp>
      <p:sp>
        <p:nvSpPr>
          <p:cNvPr id="16" name="Shape 14"/>
          <p:cNvSpPr/>
          <p:nvPr/>
        </p:nvSpPr>
        <p:spPr>
          <a:xfrm>
            <a:off x="6254496" y="1600200"/>
            <a:ext cx="2670048" cy="2148840"/>
          </a:xfrm>
          <a:prstGeom prst="roundRect">
            <a:avLst>
              <a:gd name="adj" fmla="val 3404"/>
            </a:avLst>
          </a:prstGeom>
          <a:solidFill>
            <a:srgbClr val="EAF3EF"/>
          </a:solidFill>
          <a:ln/>
        </p:spPr>
      </p:sp>
      <p:sp>
        <p:nvSpPr>
          <p:cNvPr id="17" name="Shape 15"/>
          <p:cNvSpPr/>
          <p:nvPr/>
        </p:nvSpPr>
        <p:spPr>
          <a:xfrm>
            <a:off x="6483096" y="1828800"/>
            <a:ext cx="502920" cy="502920"/>
          </a:xfrm>
          <a:prstGeom prst="ellipse">
            <a:avLst/>
          </a:prstGeom>
          <a:solidFill>
            <a:srgbClr val="02714E"/>
          </a:solidFill>
          <a:ln/>
        </p:spPr>
      </p:sp>
      <p:sp>
        <p:nvSpPr>
          <p:cNvPr id="18" name="Text 16"/>
          <p:cNvSpPr/>
          <p:nvPr/>
        </p:nvSpPr>
        <p:spPr>
          <a:xfrm>
            <a:off x="6483096"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9" name="Text 17"/>
          <p:cNvSpPr/>
          <p:nvPr/>
        </p:nvSpPr>
        <p:spPr>
          <a:xfrm>
            <a:off x="7123176" y="1901952"/>
            <a:ext cx="1691640" cy="365760"/>
          </a:xfrm>
          <a:prstGeom prst="rect">
            <a:avLst/>
          </a:prstGeom>
          <a:noFill/>
          <a:ln/>
        </p:spPr>
        <p:txBody>
          <a:bodyPr wrap="square" lIns="0" tIns="0" rIns="0" bIns="0" rtlCol="0" anchor="ctr"/>
          <a:lstStyle/>
          <a:p>
            <a:pPr indent="0" marL="0">
              <a:buNone/>
            </a:pPr>
            <a:r>
              <a:rPr lang="en-US" sz="1150" b="1" dirty="0">
                <a:solidFill>
                  <a:srgbClr val="5E6E66"/>
                </a:solidFill>
                <a:latin typeface="Calibri" pitchFamily="34" charset="0"/>
                <a:ea typeface="Calibri" pitchFamily="34" charset="-122"/>
                <a:cs typeface="Calibri" pitchFamily="34" charset="-120"/>
              </a:rPr>
              <a:t>mo 1-3</a:t>
            </a:r>
            <a:endParaRPr lang="en-US" sz="1150" dirty="0"/>
          </a:p>
        </p:txBody>
      </p:sp>
      <p:sp>
        <p:nvSpPr>
          <p:cNvPr id="20" name="Text 18"/>
          <p:cNvSpPr/>
          <p:nvPr/>
        </p:nvSpPr>
        <p:spPr>
          <a:xfrm>
            <a:off x="6483096" y="2468880"/>
            <a:ext cx="2240280" cy="365760"/>
          </a:xfrm>
          <a:prstGeom prst="rect">
            <a:avLst/>
          </a:prstGeom>
          <a:noFill/>
          <a:ln/>
        </p:spPr>
        <p:txBody>
          <a:bodyPr wrap="square" lIns="0" tIns="0" rIns="0" bIns="0" rtlCol="0" anchor="ctr"/>
          <a:lstStyle/>
          <a:p>
            <a:pPr indent="0" marL="0">
              <a:buNone/>
            </a:pPr>
            <a:r>
              <a:rPr lang="en-US" sz="1450" b="1" dirty="0">
                <a:solidFill>
                  <a:srgbClr val="1C2B25"/>
                </a:solidFill>
                <a:latin typeface="Calibri" pitchFamily="34" charset="0"/>
                <a:ea typeface="Calibri" pitchFamily="34" charset="-122"/>
                <a:cs typeface="Calibri" pitchFamily="34" charset="-120"/>
              </a:rPr>
              <a:t>Data foundation</a:t>
            </a:r>
            <a:endParaRPr lang="en-US" sz="1450" dirty="0"/>
          </a:p>
        </p:txBody>
      </p:sp>
      <p:sp>
        <p:nvSpPr>
          <p:cNvPr id="21" name="Text 19"/>
          <p:cNvSpPr/>
          <p:nvPr/>
        </p:nvSpPr>
        <p:spPr>
          <a:xfrm>
            <a:off x="6483096" y="2834640"/>
            <a:ext cx="2240280" cy="822960"/>
          </a:xfrm>
          <a:prstGeom prst="rect">
            <a:avLst/>
          </a:prstGeom>
          <a:noFill/>
          <a:ln/>
        </p:spPr>
        <p:txBody>
          <a:bodyPr wrap="square" lIns="0" tIns="0" rIns="0" bIns="0" rtlCol="0" anchor="ctr"/>
          <a:lstStyle/>
          <a:p>
            <a:pPr indent="0" marL="0">
              <a:buNone/>
            </a:pPr>
            <a:r>
              <a:rPr lang="en-US" sz="1100" dirty="0">
                <a:solidFill>
                  <a:srgbClr val="5E6E66"/>
                </a:solidFill>
                <a:latin typeface="Calibri" pitchFamily="34" charset="0"/>
                <a:ea typeface="Calibri" pitchFamily="34" charset="-122"/>
                <a:cs typeface="Calibri" pitchFamily="34" charset="-120"/>
              </a:rPr>
              <a:t>Registry ingestion; entity resolution; fact verification</a:t>
            </a:r>
            <a:endParaRPr lang="en-US" sz="1100" dirty="0"/>
          </a:p>
        </p:txBody>
      </p:sp>
      <p:sp>
        <p:nvSpPr>
          <p:cNvPr id="22" name="Shape 20"/>
          <p:cNvSpPr/>
          <p:nvPr/>
        </p:nvSpPr>
        <p:spPr>
          <a:xfrm>
            <a:off x="9107424" y="1600200"/>
            <a:ext cx="2670048" cy="2148840"/>
          </a:xfrm>
          <a:prstGeom prst="roundRect">
            <a:avLst>
              <a:gd name="adj" fmla="val 3404"/>
            </a:avLst>
          </a:prstGeom>
          <a:solidFill>
            <a:srgbClr val="EAF3EF"/>
          </a:solidFill>
          <a:ln/>
        </p:spPr>
      </p:sp>
      <p:sp>
        <p:nvSpPr>
          <p:cNvPr id="23" name="Shape 21"/>
          <p:cNvSpPr/>
          <p:nvPr/>
        </p:nvSpPr>
        <p:spPr>
          <a:xfrm>
            <a:off x="9336024" y="1828800"/>
            <a:ext cx="502920" cy="502920"/>
          </a:xfrm>
          <a:prstGeom prst="ellipse">
            <a:avLst/>
          </a:prstGeom>
          <a:solidFill>
            <a:srgbClr val="02714E"/>
          </a:solidFill>
          <a:ln/>
        </p:spPr>
      </p:sp>
      <p:sp>
        <p:nvSpPr>
          <p:cNvPr id="24" name="Text 22"/>
          <p:cNvSpPr/>
          <p:nvPr/>
        </p:nvSpPr>
        <p:spPr>
          <a:xfrm>
            <a:off x="9336024" y="1828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5" name="Text 23"/>
          <p:cNvSpPr/>
          <p:nvPr/>
        </p:nvSpPr>
        <p:spPr>
          <a:xfrm>
            <a:off x="9976104" y="1901952"/>
            <a:ext cx="1691640" cy="365760"/>
          </a:xfrm>
          <a:prstGeom prst="rect">
            <a:avLst/>
          </a:prstGeom>
          <a:noFill/>
          <a:ln/>
        </p:spPr>
        <p:txBody>
          <a:bodyPr wrap="square" lIns="0" tIns="0" rIns="0" bIns="0" rtlCol="0" anchor="ctr"/>
          <a:lstStyle/>
          <a:p>
            <a:pPr indent="0" marL="0">
              <a:buNone/>
            </a:pPr>
            <a:r>
              <a:rPr lang="en-US" sz="1150" b="1" dirty="0">
                <a:solidFill>
                  <a:srgbClr val="5E6E66"/>
                </a:solidFill>
                <a:latin typeface="Calibri" pitchFamily="34" charset="0"/>
                <a:ea typeface="Calibri" pitchFamily="34" charset="-122"/>
                <a:cs typeface="Calibri" pitchFamily="34" charset="-120"/>
              </a:rPr>
              <a:t>mo 2-4</a:t>
            </a:r>
            <a:endParaRPr lang="en-US" sz="1150" dirty="0"/>
          </a:p>
        </p:txBody>
      </p:sp>
      <p:sp>
        <p:nvSpPr>
          <p:cNvPr id="26" name="Text 24"/>
          <p:cNvSpPr/>
          <p:nvPr/>
        </p:nvSpPr>
        <p:spPr>
          <a:xfrm>
            <a:off x="9336024" y="2468880"/>
            <a:ext cx="2240280" cy="365760"/>
          </a:xfrm>
          <a:prstGeom prst="rect">
            <a:avLst/>
          </a:prstGeom>
          <a:noFill/>
          <a:ln/>
        </p:spPr>
        <p:txBody>
          <a:bodyPr wrap="square" lIns="0" tIns="0" rIns="0" bIns="0" rtlCol="0" anchor="ctr"/>
          <a:lstStyle/>
          <a:p>
            <a:pPr indent="0" marL="0">
              <a:buNone/>
            </a:pPr>
            <a:r>
              <a:rPr lang="en-US" sz="1450" b="1" dirty="0">
                <a:solidFill>
                  <a:srgbClr val="1C2B25"/>
                </a:solidFill>
                <a:latin typeface="Calibri" pitchFamily="34" charset="0"/>
                <a:ea typeface="Calibri" pitchFamily="34" charset="-122"/>
                <a:cs typeface="Calibri" pitchFamily="34" charset="-120"/>
              </a:rPr>
              <a:t>Sovereignty</a:t>
            </a:r>
            <a:endParaRPr lang="en-US" sz="1450" dirty="0"/>
          </a:p>
        </p:txBody>
      </p:sp>
      <p:sp>
        <p:nvSpPr>
          <p:cNvPr id="27" name="Text 25"/>
          <p:cNvSpPr/>
          <p:nvPr/>
        </p:nvSpPr>
        <p:spPr>
          <a:xfrm>
            <a:off x="9336024" y="2834640"/>
            <a:ext cx="2240280" cy="822960"/>
          </a:xfrm>
          <a:prstGeom prst="rect">
            <a:avLst/>
          </a:prstGeom>
          <a:noFill/>
          <a:ln/>
        </p:spPr>
        <p:txBody>
          <a:bodyPr wrap="square" lIns="0" tIns="0" rIns="0" bIns="0" rtlCol="0" anchor="ctr"/>
          <a:lstStyle/>
          <a:p>
            <a:pPr indent="0" marL="0">
              <a:buNone/>
            </a:pPr>
            <a:r>
              <a:rPr lang="en-US" sz="1100" dirty="0">
                <a:solidFill>
                  <a:srgbClr val="5E6E66"/>
                </a:solidFill>
                <a:latin typeface="Calibri" pitchFamily="34" charset="0"/>
                <a:ea typeface="Calibri" pitchFamily="34" charset="-122"/>
                <a:cs typeface="Calibri" pitchFamily="34" charset="-120"/>
              </a:rPr>
              <a:t>All inference in-tenant; PDPL and NCA ECC alignment</a:t>
            </a:r>
            <a:endParaRPr lang="en-US" sz="1100" dirty="0"/>
          </a:p>
        </p:txBody>
      </p:sp>
      <p:sp>
        <p:nvSpPr>
          <p:cNvPr id="28" name="Shape 26"/>
          <p:cNvSpPr/>
          <p:nvPr/>
        </p:nvSpPr>
        <p:spPr>
          <a:xfrm>
            <a:off x="548640" y="3977640"/>
            <a:ext cx="2670048" cy="2148840"/>
          </a:xfrm>
          <a:prstGeom prst="roundRect">
            <a:avLst>
              <a:gd name="adj" fmla="val 3404"/>
            </a:avLst>
          </a:prstGeom>
          <a:solidFill>
            <a:srgbClr val="EAF3EF"/>
          </a:solidFill>
          <a:ln/>
        </p:spPr>
      </p:sp>
      <p:sp>
        <p:nvSpPr>
          <p:cNvPr id="29" name="Shape 27"/>
          <p:cNvSpPr/>
          <p:nvPr/>
        </p:nvSpPr>
        <p:spPr>
          <a:xfrm>
            <a:off x="777240" y="4206240"/>
            <a:ext cx="502920" cy="502920"/>
          </a:xfrm>
          <a:prstGeom prst="ellipse">
            <a:avLst/>
          </a:prstGeom>
          <a:solidFill>
            <a:srgbClr val="02714E"/>
          </a:solidFill>
          <a:ln/>
        </p:spPr>
      </p:sp>
      <p:sp>
        <p:nvSpPr>
          <p:cNvPr id="30" name="Text 28"/>
          <p:cNvSpPr/>
          <p:nvPr/>
        </p:nvSpPr>
        <p:spPr>
          <a:xfrm>
            <a:off x="777240" y="42062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31" name="Text 29"/>
          <p:cNvSpPr/>
          <p:nvPr/>
        </p:nvSpPr>
        <p:spPr>
          <a:xfrm>
            <a:off x="1417320" y="4279392"/>
            <a:ext cx="1691640" cy="365760"/>
          </a:xfrm>
          <a:prstGeom prst="rect">
            <a:avLst/>
          </a:prstGeom>
          <a:noFill/>
          <a:ln/>
        </p:spPr>
        <p:txBody>
          <a:bodyPr wrap="square" lIns="0" tIns="0" rIns="0" bIns="0" rtlCol="0" anchor="ctr"/>
          <a:lstStyle/>
          <a:p>
            <a:pPr indent="0" marL="0">
              <a:buNone/>
            </a:pPr>
            <a:r>
              <a:rPr lang="en-US" sz="1150" b="1" dirty="0">
                <a:solidFill>
                  <a:srgbClr val="5E6E66"/>
                </a:solidFill>
                <a:latin typeface="Calibri" pitchFamily="34" charset="0"/>
                <a:ea typeface="Calibri" pitchFamily="34" charset="-122"/>
                <a:cs typeface="Calibri" pitchFamily="34" charset="-120"/>
              </a:rPr>
              <a:t>mo 3-6</a:t>
            </a:r>
            <a:endParaRPr lang="en-US" sz="1150" dirty="0"/>
          </a:p>
        </p:txBody>
      </p:sp>
      <p:sp>
        <p:nvSpPr>
          <p:cNvPr id="32" name="Text 30"/>
          <p:cNvSpPr/>
          <p:nvPr/>
        </p:nvSpPr>
        <p:spPr>
          <a:xfrm>
            <a:off x="777240" y="4846320"/>
            <a:ext cx="2240280" cy="365760"/>
          </a:xfrm>
          <a:prstGeom prst="rect">
            <a:avLst/>
          </a:prstGeom>
          <a:noFill/>
          <a:ln/>
        </p:spPr>
        <p:txBody>
          <a:bodyPr wrap="square" lIns="0" tIns="0" rIns="0" bIns="0" rtlCol="0" anchor="ctr"/>
          <a:lstStyle/>
          <a:p>
            <a:pPr indent="0" marL="0">
              <a:buNone/>
            </a:pPr>
            <a:r>
              <a:rPr lang="en-US" sz="1450" b="1" dirty="0">
                <a:solidFill>
                  <a:srgbClr val="1C2B25"/>
                </a:solidFill>
                <a:latin typeface="Calibri" pitchFamily="34" charset="0"/>
                <a:ea typeface="Calibri" pitchFamily="34" charset="-122"/>
                <a:cs typeface="Calibri" pitchFamily="34" charset="-120"/>
              </a:rPr>
              <a:t>Platform build</a:t>
            </a:r>
            <a:endParaRPr lang="en-US" sz="1450" dirty="0"/>
          </a:p>
        </p:txBody>
      </p:sp>
      <p:sp>
        <p:nvSpPr>
          <p:cNvPr id="33" name="Text 31"/>
          <p:cNvSpPr/>
          <p:nvPr/>
        </p:nvSpPr>
        <p:spPr>
          <a:xfrm>
            <a:off x="777240" y="5212080"/>
            <a:ext cx="2240280" cy="822960"/>
          </a:xfrm>
          <a:prstGeom prst="rect">
            <a:avLst/>
          </a:prstGeom>
          <a:noFill/>
          <a:ln/>
        </p:spPr>
        <p:txBody>
          <a:bodyPr wrap="square" lIns="0" tIns="0" rIns="0" bIns="0" rtlCol="0" anchor="ctr"/>
          <a:lstStyle/>
          <a:p>
            <a:pPr indent="0" marL="0">
              <a:buNone/>
            </a:pPr>
            <a:r>
              <a:rPr lang="en-US" sz="1100" dirty="0">
                <a:solidFill>
                  <a:srgbClr val="5E6E66"/>
                </a:solidFill>
                <a:latin typeface="Calibri" pitchFamily="34" charset="0"/>
                <a:ea typeface="Calibri" pitchFamily="34" charset="-122"/>
                <a:cs typeface="Calibri" pitchFamily="34" charset="-120"/>
              </a:rPr>
              <a:t>Service, SSO, dashboards; verifier as a CI gate</a:t>
            </a:r>
            <a:endParaRPr lang="en-US" sz="1100" dirty="0"/>
          </a:p>
        </p:txBody>
      </p:sp>
      <p:sp>
        <p:nvSpPr>
          <p:cNvPr id="34" name="Shape 32"/>
          <p:cNvSpPr/>
          <p:nvPr/>
        </p:nvSpPr>
        <p:spPr>
          <a:xfrm>
            <a:off x="3401568" y="3977640"/>
            <a:ext cx="2670048" cy="2148840"/>
          </a:xfrm>
          <a:prstGeom prst="roundRect">
            <a:avLst>
              <a:gd name="adj" fmla="val 3404"/>
            </a:avLst>
          </a:prstGeom>
          <a:solidFill>
            <a:srgbClr val="EAF3EF"/>
          </a:solidFill>
          <a:ln/>
        </p:spPr>
      </p:sp>
      <p:sp>
        <p:nvSpPr>
          <p:cNvPr id="35" name="Shape 33"/>
          <p:cNvSpPr/>
          <p:nvPr/>
        </p:nvSpPr>
        <p:spPr>
          <a:xfrm>
            <a:off x="3630168" y="4206240"/>
            <a:ext cx="502920" cy="502920"/>
          </a:xfrm>
          <a:prstGeom prst="ellipse">
            <a:avLst/>
          </a:prstGeom>
          <a:solidFill>
            <a:srgbClr val="02714E"/>
          </a:solidFill>
          <a:ln/>
        </p:spPr>
      </p:sp>
      <p:sp>
        <p:nvSpPr>
          <p:cNvPr id="36" name="Text 34"/>
          <p:cNvSpPr/>
          <p:nvPr/>
        </p:nvSpPr>
        <p:spPr>
          <a:xfrm>
            <a:off x="3630168" y="42062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37" name="Text 35"/>
          <p:cNvSpPr/>
          <p:nvPr/>
        </p:nvSpPr>
        <p:spPr>
          <a:xfrm>
            <a:off x="4270248" y="4279392"/>
            <a:ext cx="1691640" cy="365760"/>
          </a:xfrm>
          <a:prstGeom prst="rect">
            <a:avLst/>
          </a:prstGeom>
          <a:noFill/>
          <a:ln/>
        </p:spPr>
        <p:txBody>
          <a:bodyPr wrap="square" lIns="0" tIns="0" rIns="0" bIns="0" rtlCol="0" anchor="ctr"/>
          <a:lstStyle/>
          <a:p>
            <a:pPr indent="0" marL="0">
              <a:buNone/>
            </a:pPr>
            <a:r>
              <a:rPr lang="en-US" sz="1150" b="1" dirty="0">
                <a:solidFill>
                  <a:srgbClr val="5E6E66"/>
                </a:solidFill>
                <a:latin typeface="Calibri" pitchFamily="34" charset="0"/>
                <a:ea typeface="Calibri" pitchFamily="34" charset="-122"/>
                <a:cs typeface="Calibri" pitchFamily="34" charset="-120"/>
              </a:rPr>
              <a:t>mo 5-7</a:t>
            </a:r>
            <a:endParaRPr lang="en-US" sz="1150" dirty="0"/>
          </a:p>
        </p:txBody>
      </p:sp>
      <p:sp>
        <p:nvSpPr>
          <p:cNvPr id="38" name="Text 36"/>
          <p:cNvSpPr/>
          <p:nvPr/>
        </p:nvSpPr>
        <p:spPr>
          <a:xfrm>
            <a:off x="3630168" y="4846320"/>
            <a:ext cx="2240280" cy="365760"/>
          </a:xfrm>
          <a:prstGeom prst="rect">
            <a:avLst/>
          </a:prstGeom>
          <a:noFill/>
          <a:ln/>
        </p:spPr>
        <p:txBody>
          <a:bodyPr wrap="square" lIns="0" tIns="0" rIns="0" bIns="0" rtlCol="0" anchor="ctr"/>
          <a:lstStyle/>
          <a:p>
            <a:pPr indent="0" marL="0">
              <a:buNone/>
            </a:pPr>
            <a:r>
              <a:rPr lang="en-US" sz="1450" b="1" dirty="0">
                <a:solidFill>
                  <a:srgbClr val="1C2B25"/>
                </a:solidFill>
                <a:latin typeface="Calibri" pitchFamily="34" charset="0"/>
                <a:ea typeface="Calibri" pitchFamily="34" charset="-122"/>
                <a:cs typeface="Calibri" pitchFamily="34" charset="-120"/>
              </a:rPr>
              <a:t>Governed beta</a:t>
            </a:r>
            <a:endParaRPr lang="en-US" sz="1450" dirty="0"/>
          </a:p>
        </p:txBody>
      </p:sp>
      <p:sp>
        <p:nvSpPr>
          <p:cNvPr id="39" name="Text 37"/>
          <p:cNvSpPr/>
          <p:nvPr/>
        </p:nvSpPr>
        <p:spPr>
          <a:xfrm>
            <a:off x="3630168" y="5212080"/>
            <a:ext cx="2240280" cy="822960"/>
          </a:xfrm>
          <a:prstGeom prst="rect">
            <a:avLst/>
          </a:prstGeom>
          <a:noFill/>
          <a:ln/>
        </p:spPr>
        <p:txBody>
          <a:bodyPr wrap="square" lIns="0" tIns="0" rIns="0" bIns="0" rtlCol="0" anchor="ctr"/>
          <a:lstStyle/>
          <a:p>
            <a:pPr indent="0" marL="0">
              <a:buNone/>
            </a:pPr>
            <a:r>
              <a:rPr lang="en-US" sz="1100" dirty="0">
                <a:solidFill>
                  <a:srgbClr val="5E6E66"/>
                </a:solidFill>
                <a:latin typeface="Calibri" pitchFamily="34" charset="0"/>
                <a:ea typeface="Calibri" pitchFamily="34" charset="-122"/>
                <a:cs typeface="Calibri" pitchFamily="34" charset="-120"/>
              </a:rPr>
              <a:t>Partner teams; appeal process; legal and bias review</a:t>
            </a:r>
            <a:endParaRPr lang="en-US" sz="1100" dirty="0"/>
          </a:p>
        </p:txBody>
      </p:sp>
      <p:sp>
        <p:nvSpPr>
          <p:cNvPr id="40" name="Shape 38"/>
          <p:cNvSpPr/>
          <p:nvPr/>
        </p:nvSpPr>
        <p:spPr>
          <a:xfrm>
            <a:off x="6254496" y="3977640"/>
            <a:ext cx="2670048" cy="2148840"/>
          </a:xfrm>
          <a:prstGeom prst="roundRect">
            <a:avLst>
              <a:gd name="adj" fmla="val 3404"/>
            </a:avLst>
          </a:prstGeom>
          <a:solidFill>
            <a:srgbClr val="02714E"/>
          </a:solidFill>
          <a:ln/>
        </p:spPr>
      </p:sp>
      <p:sp>
        <p:nvSpPr>
          <p:cNvPr id="41" name="Shape 39"/>
          <p:cNvSpPr/>
          <p:nvPr/>
        </p:nvSpPr>
        <p:spPr>
          <a:xfrm>
            <a:off x="6483096" y="4206240"/>
            <a:ext cx="502920" cy="502920"/>
          </a:xfrm>
          <a:prstGeom prst="ellipse">
            <a:avLst/>
          </a:prstGeom>
          <a:solidFill>
            <a:srgbClr val="FFFFFF"/>
          </a:solidFill>
          <a:ln/>
        </p:spPr>
      </p:sp>
      <p:sp>
        <p:nvSpPr>
          <p:cNvPr id="42" name="Text 40"/>
          <p:cNvSpPr/>
          <p:nvPr/>
        </p:nvSpPr>
        <p:spPr>
          <a:xfrm>
            <a:off x="6483096" y="4206240"/>
            <a:ext cx="502920" cy="502920"/>
          </a:xfrm>
          <a:prstGeom prst="rect">
            <a:avLst/>
          </a:prstGeom>
          <a:noFill/>
          <a:ln/>
        </p:spPr>
        <p:txBody>
          <a:bodyPr wrap="square" lIns="0" tIns="0" rIns="0" bIns="0" rtlCol="0" anchor="ctr"/>
          <a:lstStyle/>
          <a:p>
            <a:pPr algn="ctr" indent="0" marL="0">
              <a:buNone/>
            </a:pPr>
            <a:r>
              <a:rPr lang="en-US" sz="1800" b="1" dirty="0">
                <a:solidFill>
                  <a:srgbClr val="02714E"/>
                </a:solidFill>
                <a:latin typeface="Cambria" pitchFamily="34" charset="0"/>
                <a:ea typeface="Cambria" pitchFamily="34" charset="-122"/>
                <a:cs typeface="Cambria" pitchFamily="34" charset="-120"/>
              </a:rPr>
              <a:t>6</a:t>
            </a:r>
            <a:endParaRPr lang="en-US" sz="1800" dirty="0"/>
          </a:p>
        </p:txBody>
      </p:sp>
      <p:sp>
        <p:nvSpPr>
          <p:cNvPr id="43" name="Text 41"/>
          <p:cNvSpPr/>
          <p:nvPr/>
        </p:nvSpPr>
        <p:spPr>
          <a:xfrm>
            <a:off x="7123176" y="4279392"/>
            <a:ext cx="1691640" cy="365760"/>
          </a:xfrm>
          <a:prstGeom prst="rect">
            <a:avLst/>
          </a:prstGeom>
          <a:noFill/>
          <a:ln/>
        </p:spPr>
        <p:txBody>
          <a:bodyPr wrap="square" lIns="0" tIns="0" rIns="0" bIns="0" rtlCol="0" anchor="ctr"/>
          <a:lstStyle/>
          <a:p>
            <a:pPr indent="0" marL="0">
              <a:buNone/>
            </a:pPr>
            <a:r>
              <a:rPr lang="en-US" sz="1150" b="1" dirty="0">
                <a:solidFill>
                  <a:srgbClr val="CFE5DA"/>
                </a:solidFill>
                <a:latin typeface="Calibri" pitchFamily="34" charset="0"/>
                <a:ea typeface="Calibri" pitchFamily="34" charset="-122"/>
                <a:cs typeface="Calibri" pitchFamily="34" charset="-120"/>
              </a:rPr>
              <a:t>after 5</a:t>
            </a:r>
            <a:endParaRPr lang="en-US" sz="1150" dirty="0"/>
          </a:p>
        </p:txBody>
      </p:sp>
      <p:sp>
        <p:nvSpPr>
          <p:cNvPr id="44" name="Text 42"/>
          <p:cNvSpPr/>
          <p:nvPr/>
        </p:nvSpPr>
        <p:spPr>
          <a:xfrm>
            <a:off x="6483096" y="4846320"/>
            <a:ext cx="2240280" cy="36576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National launch</a:t>
            </a:r>
            <a:endParaRPr lang="en-US" sz="1450" dirty="0"/>
          </a:p>
        </p:txBody>
      </p:sp>
      <p:sp>
        <p:nvSpPr>
          <p:cNvPr id="45" name="Text 43"/>
          <p:cNvSpPr/>
          <p:nvPr/>
        </p:nvSpPr>
        <p:spPr>
          <a:xfrm>
            <a:off x="6483096" y="5212080"/>
            <a:ext cx="2240280" cy="822960"/>
          </a:xfrm>
          <a:prstGeom prst="rect">
            <a:avLst/>
          </a:prstGeom>
          <a:noFill/>
          <a:ln/>
        </p:spPr>
        <p:txBody>
          <a:bodyPr wrap="square" lIns="0" tIns="0" rIns="0" bIns="0" rtlCol="0" anchor="ctr"/>
          <a:lstStyle/>
          <a:p>
            <a:pPr indent="0" marL="0">
              <a:buNone/>
            </a:pPr>
            <a:r>
              <a:rPr lang="en-US" sz="1100" dirty="0">
                <a:solidFill>
                  <a:srgbClr val="DCEAE3"/>
                </a:solidFill>
                <a:latin typeface="Calibri" pitchFamily="34" charset="0"/>
                <a:ea typeface="Calibri" pitchFamily="34" charset="-122"/>
                <a:cs typeface="Calibri" pitchFamily="34" charset="-120"/>
              </a:rPr>
              <a:t>Human-in-the-loop stays mandatory for publication</a:t>
            </a:r>
            <a:endParaRPr lang="en-US" sz="1100" dirty="0"/>
          </a:p>
        </p:txBody>
      </p:sp>
      <p:sp>
        <p:nvSpPr>
          <p:cNvPr id="46" name="Shape 44"/>
          <p:cNvSpPr/>
          <p:nvPr/>
        </p:nvSpPr>
        <p:spPr>
          <a:xfrm>
            <a:off x="6364224" y="3977640"/>
            <a:ext cx="5248656" cy="2148840"/>
          </a:xfrm>
          <a:prstGeom prst="roundRect">
            <a:avLst>
              <a:gd name="adj" fmla="val 3404"/>
            </a:avLst>
          </a:prstGeom>
          <a:solidFill>
            <a:srgbClr val="013023"/>
          </a:solidFill>
          <a:ln/>
        </p:spPr>
      </p:sp>
      <p:sp>
        <p:nvSpPr>
          <p:cNvPr id="47" name="Text 45"/>
          <p:cNvSpPr/>
          <p:nvPr/>
        </p:nvSpPr>
        <p:spPr>
          <a:xfrm>
            <a:off x="6675120" y="4224528"/>
            <a:ext cx="4663440" cy="32004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Governing principle</a:t>
            </a:r>
            <a:endParaRPr lang="en-US" sz="1200" dirty="0"/>
          </a:p>
        </p:txBody>
      </p:sp>
      <p:sp>
        <p:nvSpPr>
          <p:cNvPr id="48" name="Text 46"/>
          <p:cNvSpPr/>
          <p:nvPr/>
        </p:nvSpPr>
        <p:spPr>
          <a:xfrm>
            <a:off x="6675120" y="4590288"/>
            <a:ext cx="4663440" cy="1371600"/>
          </a:xfrm>
          <a:prstGeom prst="rect">
            <a:avLst/>
          </a:prstGeom>
          <a:noFill/>
          <a:ln/>
        </p:spPr>
        <p:txBody>
          <a:bodyPr wrap="square" lIns="0" tIns="0" rIns="0" bIns="0" rtlCol="0" anchor="ctr"/>
          <a:lstStyle/>
          <a:p>
            <a:pPr indent="0" marL="0">
              <a:buNone/>
            </a:pPr>
            <a:r>
              <a:rPr lang="en-US" sz="1600" i="1" dirty="0">
                <a:solidFill>
                  <a:srgbClr val="FFFFFF"/>
                </a:solidFill>
                <a:latin typeface="Cambria" pitchFamily="34" charset="0"/>
                <a:ea typeface="Cambria" pitchFamily="34" charset="-122"/>
                <a:cs typeface="Cambria" pitchFamily="34" charset="-120"/>
              </a:rPr>
              <a:t>Launch the workflow nationally, not raw model outputs. The platform recommends; accountable analysts decide.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02714E"/>
                </a:solidFill>
                <a:latin typeface="Calibri" pitchFamily="34" charset="0"/>
                <a:ea typeface="Calibri" pitchFamily="34" charset="-122"/>
                <a:cs typeface="Calibri" pitchFamily="34" charset="-120"/>
              </a:rPr>
              <a:t>NO-REGRET MOVES</a:t>
            </a:r>
            <a:endParaRPr lang="en-US" sz="1200" dirty="0"/>
          </a:p>
        </p:txBody>
      </p:sp>
      <p:sp>
        <p:nvSpPr>
          <p:cNvPr id="3" name="Text 1"/>
          <p:cNvSpPr/>
          <p:nvPr/>
        </p:nvSpPr>
        <p:spPr>
          <a:xfrm>
            <a:off x="548640" y="640080"/>
            <a:ext cx="11064240" cy="685800"/>
          </a:xfrm>
          <a:prstGeom prst="rect">
            <a:avLst/>
          </a:prstGeom>
          <a:noFill/>
          <a:ln/>
        </p:spPr>
        <p:txBody>
          <a:bodyPr wrap="square" lIns="0" tIns="0" rIns="0" bIns="0" rtlCol="0" anchor="ctr"/>
          <a:lstStyle/>
          <a:p>
            <a:pPr indent="0" marL="0">
              <a:buNone/>
            </a:pPr>
            <a:r>
              <a:rPr lang="en-US" sz="3200" b="1" dirty="0">
                <a:solidFill>
                  <a:srgbClr val="1C2B25"/>
                </a:solidFill>
                <a:latin typeface="Cambria" pitchFamily="34" charset="0"/>
                <a:ea typeface="Cambria" pitchFamily="34" charset="-122"/>
                <a:cs typeface="Cambria" pitchFamily="34" charset="-120"/>
              </a:rPr>
              <a:t>Three actions to start this week</a:t>
            </a:r>
            <a:endParaRPr lang="en-US" sz="3200" dirty="0"/>
          </a:p>
        </p:txBody>
      </p:sp>
      <p:sp>
        <p:nvSpPr>
          <p:cNvPr id="4" name="Shape 2"/>
          <p:cNvSpPr/>
          <p:nvPr/>
        </p:nvSpPr>
        <p:spPr>
          <a:xfrm>
            <a:off x="548640" y="1645920"/>
            <a:ext cx="3566160" cy="3657600"/>
          </a:xfrm>
          <a:prstGeom prst="roundRect">
            <a:avLst>
              <a:gd name="adj" fmla="val 2051"/>
            </a:avLst>
          </a:prstGeom>
          <a:solidFill>
            <a:srgbClr val="EAF3EF"/>
          </a:solidFill>
          <a:ln/>
        </p:spPr>
      </p:sp>
      <p:sp>
        <p:nvSpPr>
          <p:cNvPr id="5" name="Shape 3"/>
          <p:cNvSpPr/>
          <p:nvPr/>
        </p:nvSpPr>
        <p:spPr>
          <a:xfrm>
            <a:off x="841248" y="1965960"/>
            <a:ext cx="658368" cy="658368"/>
          </a:xfrm>
          <a:prstGeom prst="ellipse">
            <a:avLst/>
          </a:prstGeom>
          <a:solidFill>
            <a:srgbClr val="02714E"/>
          </a:solidFill>
          <a:ln/>
        </p:spPr>
      </p:sp>
      <p:pic>
        <p:nvPicPr>
          <p:cNvPr id="6" name="Image 0" descr="preencoded.png">    </p:cNvPr>
          <p:cNvPicPr>
            <a:picLocks noChangeAspect="1"/>
          </p:cNvPicPr>
          <p:nvPr/>
        </p:nvPicPr>
        <p:blipFill>
          <a:blip r:embed="rId1"/>
          <a:stretch>
            <a:fillRect/>
          </a:stretch>
        </p:blipFill>
        <p:spPr>
          <a:xfrm>
            <a:off x="1012424" y="2137136"/>
            <a:ext cx="316017" cy="316017"/>
          </a:xfrm>
          <a:prstGeom prst="rect">
            <a:avLst/>
          </a:prstGeom>
        </p:spPr>
      </p:pic>
      <p:sp>
        <p:nvSpPr>
          <p:cNvPr id="7" name="Text 4"/>
          <p:cNvSpPr/>
          <p:nvPr/>
        </p:nvSpPr>
        <p:spPr>
          <a:xfrm>
            <a:off x="841248" y="2834640"/>
            <a:ext cx="3017520" cy="685800"/>
          </a:xfrm>
          <a:prstGeom prst="rect">
            <a:avLst/>
          </a:prstGeom>
          <a:noFill/>
          <a:ln/>
        </p:spPr>
        <p:txBody>
          <a:bodyPr wrap="square" lIns="0" tIns="0" rIns="0" bIns="0" rtlCol="0" anchor="ctr"/>
          <a:lstStyle/>
          <a:p>
            <a:pPr indent="0" marL="0">
              <a:buNone/>
            </a:pPr>
            <a:r>
              <a:rPr lang="en-US" sz="1650" b="1" dirty="0">
                <a:solidFill>
                  <a:srgbClr val="1C2B25"/>
                </a:solidFill>
                <a:latin typeface="Calibri" pitchFamily="34" charset="0"/>
                <a:ea typeface="Calibri" pitchFamily="34" charset="-122"/>
                <a:cs typeface="Calibri" pitchFamily="34" charset="-120"/>
              </a:rPr>
              <a:t>1. Put analysts in the loop</a:t>
            </a:r>
            <a:endParaRPr lang="en-US" sz="1650" dirty="0"/>
          </a:p>
        </p:txBody>
      </p:sp>
      <p:sp>
        <p:nvSpPr>
          <p:cNvPr id="8" name="Text 5"/>
          <p:cNvSpPr/>
          <p:nvPr/>
        </p:nvSpPr>
        <p:spPr>
          <a:xfrm>
            <a:off x="841248" y="3520440"/>
            <a:ext cx="3017520" cy="1143000"/>
          </a:xfrm>
          <a:prstGeom prst="rect">
            <a:avLst/>
          </a:prstGeom>
          <a:noFill/>
          <a:ln/>
        </p:spPr>
        <p:txBody>
          <a:bodyPr wrap="square" lIns="0" tIns="0" rIns="0" bIns="0" rtlCol="0" anchor="ctr"/>
          <a:lstStyle/>
          <a:p>
            <a:pPr indent="0" marL="0">
              <a:buNone/>
            </a:pPr>
            <a:r>
              <a:rPr lang="en-US" sz="1300" dirty="0">
                <a:solidFill>
                  <a:srgbClr val="5E6E66"/>
                </a:solidFill>
                <a:latin typeface="Calibri" pitchFamily="34" charset="0"/>
                <a:ea typeface="Calibri" pitchFamily="34" charset="-122"/>
                <a:cs typeface="Calibri" pitchFamily="34" charset="-120"/>
              </a:rPr>
              <a:t>Use the review page in daily screening. Every Agree or Not-a-fit verdict is permanent training signal.</a:t>
            </a:r>
            <a:endParaRPr lang="en-US" sz="1300" dirty="0"/>
          </a:p>
        </p:txBody>
      </p:sp>
      <p:sp>
        <p:nvSpPr>
          <p:cNvPr id="9" name="Text 6"/>
          <p:cNvSpPr/>
          <p:nvPr/>
        </p:nvSpPr>
        <p:spPr>
          <a:xfrm>
            <a:off x="841248" y="4663440"/>
            <a:ext cx="3017520" cy="548640"/>
          </a:xfrm>
          <a:prstGeom prst="rect">
            <a:avLst/>
          </a:prstGeom>
          <a:noFill/>
          <a:ln/>
        </p:spPr>
        <p:txBody>
          <a:bodyPr wrap="square" lIns="0" tIns="0" rIns="0" bIns="0" rtlCol="0" anchor="ctr"/>
          <a:lstStyle/>
          <a:p>
            <a:pPr indent="0" marL="0">
              <a:buNone/>
            </a:pPr>
            <a:r>
              <a:rPr lang="en-US" sz="1150" i="1" dirty="0">
                <a:solidFill>
                  <a:srgbClr val="02714E"/>
                </a:solidFill>
                <a:latin typeface="Calibri" pitchFamily="34" charset="0"/>
                <a:ea typeface="Calibri" pitchFamily="34" charset="-122"/>
                <a:cs typeface="Calibri" pitchFamily="34" charset="-120"/>
              </a:rPr>
              <a:t>Cost: none. Target: 100+ verdicts this quarter.</a:t>
            </a:r>
            <a:endParaRPr lang="en-US" sz="1150" dirty="0"/>
          </a:p>
        </p:txBody>
      </p:sp>
      <p:sp>
        <p:nvSpPr>
          <p:cNvPr id="10" name="Shape 7"/>
          <p:cNvSpPr/>
          <p:nvPr/>
        </p:nvSpPr>
        <p:spPr>
          <a:xfrm>
            <a:off x="4370832" y="1645920"/>
            <a:ext cx="3566160" cy="3657600"/>
          </a:xfrm>
          <a:prstGeom prst="roundRect">
            <a:avLst>
              <a:gd name="adj" fmla="val 2051"/>
            </a:avLst>
          </a:prstGeom>
          <a:solidFill>
            <a:srgbClr val="EAF3EF"/>
          </a:solidFill>
          <a:ln/>
        </p:spPr>
      </p:sp>
      <p:sp>
        <p:nvSpPr>
          <p:cNvPr id="11" name="Shape 8"/>
          <p:cNvSpPr/>
          <p:nvPr/>
        </p:nvSpPr>
        <p:spPr>
          <a:xfrm>
            <a:off x="4663440" y="1965960"/>
            <a:ext cx="658368" cy="658368"/>
          </a:xfrm>
          <a:prstGeom prst="ellipse">
            <a:avLst/>
          </a:prstGeom>
          <a:solidFill>
            <a:srgbClr val="02714E"/>
          </a:solidFill>
          <a:ln/>
        </p:spPr>
      </p:sp>
      <p:pic>
        <p:nvPicPr>
          <p:cNvPr id="12" name="Image 1" descr="preencoded.png">    </p:cNvPr>
          <p:cNvPicPr>
            <a:picLocks noChangeAspect="1"/>
          </p:cNvPicPr>
          <p:nvPr/>
        </p:nvPicPr>
        <p:blipFill>
          <a:blip r:embed="rId2"/>
          <a:stretch>
            <a:fillRect/>
          </a:stretch>
        </p:blipFill>
        <p:spPr>
          <a:xfrm>
            <a:off x="4834616" y="2137136"/>
            <a:ext cx="316017" cy="316017"/>
          </a:xfrm>
          <a:prstGeom prst="rect">
            <a:avLst/>
          </a:prstGeom>
        </p:spPr>
      </p:pic>
      <p:sp>
        <p:nvSpPr>
          <p:cNvPr id="13" name="Text 9"/>
          <p:cNvSpPr/>
          <p:nvPr/>
        </p:nvSpPr>
        <p:spPr>
          <a:xfrm>
            <a:off x="4663440" y="2834640"/>
            <a:ext cx="3017520" cy="685800"/>
          </a:xfrm>
          <a:prstGeom prst="rect">
            <a:avLst/>
          </a:prstGeom>
          <a:noFill/>
          <a:ln/>
        </p:spPr>
        <p:txBody>
          <a:bodyPr wrap="square" lIns="0" tIns="0" rIns="0" bIns="0" rtlCol="0" anchor="ctr"/>
          <a:lstStyle/>
          <a:p>
            <a:pPr indent="0" marL="0">
              <a:buNone/>
            </a:pPr>
            <a:r>
              <a:rPr lang="en-US" sz="1650" b="1" dirty="0">
                <a:solidFill>
                  <a:srgbClr val="1C2B25"/>
                </a:solidFill>
                <a:latin typeface="Calibri" pitchFamily="34" charset="0"/>
                <a:ea typeface="Calibri" pitchFamily="34" charset="-122"/>
                <a:cs typeface="Calibri" pitchFamily="34" charset="-120"/>
              </a:rPr>
              <a:t>2. Own the credentials</a:t>
            </a:r>
            <a:endParaRPr lang="en-US" sz="1650" dirty="0"/>
          </a:p>
        </p:txBody>
      </p:sp>
      <p:sp>
        <p:nvSpPr>
          <p:cNvPr id="14" name="Text 10"/>
          <p:cNvSpPr/>
          <p:nvPr/>
        </p:nvSpPr>
        <p:spPr>
          <a:xfrm>
            <a:off x="4663440" y="3520440"/>
            <a:ext cx="3017520" cy="1143000"/>
          </a:xfrm>
          <a:prstGeom prst="rect">
            <a:avLst/>
          </a:prstGeom>
          <a:noFill/>
          <a:ln/>
        </p:spPr>
        <p:txBody>
          <a:bodyPr wrap="square" lIns="0" tIns="0" rIns="0" bIns="0" rtlCol="0" anchor="ctr"/>
          <a:lstStyle/>
          <a:p>
            <a:pPr indent="0" marL="0">
              <a:buNone/>
            </a:pPr>
            <a:r>
              <a:rPr lang="en-US" sz="1300" dirty="0">
                <a:solidFill>
                  <a:srgbClr val="5E6E66"/>
                </a:solidFill>
                <a:latin typeface="Calibri" pitchFamily="34" charset="0"/>
                <a:ea typeface="Calibri" pitchFamily="34" charset="-122"/>
                <a:cs typeface="Calibri" pitchFamily="34" charset="-120"/>
              </a:rPr>
              <a:t>Replace borrowed API keys with project-owned credentials in a managed secret store, with rotation.</a:t>
            </a:r>
            <a:endParaRPr lang="en-US" sz="1300" dirty="0"/>
          </a:p>
        </p:txBody>
      </p:sp>
      <p:sp>
        <p:nvSpPr>
          <p:cNvPr id="15" name="Text 11"/>
          <p:cNvSpPr/>
          <p:nvPr/>
        </p:nvSpPr>
        <p:spPr>
          <a:xfrm>
            <a:off x="4663440" y="4663440"/>
            <a:ext cx="3017520" cy="548640"/>
          </a:xfrm>
          <a:prstGeom prst="rect">
            <a:avLst/>
          </a:prstGeom>
          <a:noFill/>
          <a:ln/>
        </p:spPr>
        <p:txBody>
          <a:bodyPr wrap="square" lIns="0" tIns="0" rIns="0" bIns="0" rtlCol="0" anchor="ctr"/>
          <a:lstStyle/>
          <a:p>
            <a:pPr indent="0" marL="0">
              <a:buNone/>
            </a:pPr>
            <a:r>
              <a:rPr lang="en-US" sz="1150" i="1" dirty="0">
                <a:solidFill>
                  <a:srgbClr val="02714E"/>
                </a:solidFill>
                <a:latin typeface="Calibri" pitchFamily="34" charset="0"/>
                <a:ea typeface="Calibri" pitchFamily="34" charset="-122"/>
                <a:cs typeface="Calibri" pitchFamily="34" charset="-120"/>
              </a:rPr>
              <a:t>Cost: hours. Removes a single point of failure.</a:t>
            </a:r>
            <a:endParaRPr lang="en-US" sz="1150" dirty="0"/>
          </a:p>
        </p:txBody>
      </p:sp>
      <p:sp>
        <p:nvSpPr>
          <p:cNvPr id="16" name="Shape 12"/>
          <p:cNvSpPr/>
          <p:nvPr/>
        </p:nvSpPr>
        <p:spPr>
          <a:xfrm>
            <a:off x="8193024" y="1645920"/>
            <a:ext cx="3566160" cy="3657600"/>
          </a:xfrm>
          <a:prstGeom prst="roundRect">
            <a:avLst>
              <a:gd name="adj" fmla="val 2051"/>
            </a:avLst>
          </a:prstGeom>
          <a:solidFill>
            <a:srgbClr val="EAF3EF"/>
          </a:solidFill>
          <a:ln/>
        </p:spPr>
      </p:sp>
      <p:sp>
        <p:nvSpPr>
          <p:cNvPr id="17" name="Shape 13"/>
          <p:cNvSpPr/>
          <p:nvPr/>
        </p:nvSpPr>
        <p:spPr>
          <a:xfrm>
            <a:off x="8485632" y="1965960"/>
            <a:ext cx="658368" cy="658368"/>
          </a:xfrm>
          <a:prstGeom prst="ellipse">
            <a:avLst/>
          </a:prstGeom>
          <a:solidFill>
            <a:srgbClr val="02714E"/>
          </a:solidFill>
          <a:ln/>
        </p:spPr>
      </p:sp>
      <p:pic>
        <p:nvPicPr>
          <p:cNvPr id="18" name="Image 2" descr="preencoded.png">    </p:cNvPr>
          <p:cNvPicPr>
            <a:picLocks noChangeAspect="1"/>
          </p:cNvPicPr>
          <p:nvPr/>
        </p:nvPicPr>
        <p:blipFill>
          <a:blip r:embed="rId3"/>
          <a:stretch>
            <a:fillRect/>
          </a:stretch>
        </p:blipFill>
        <p:spPr>
          <a:xfrm>
            <a:off x="8656808" y="2137136"/>
            <a:ext cx="316017" cy="316017"/>
          </a:xfrm>
          <a:prstGeom prst="rect">
            <a:avLst/>
          </a:prstGeom>
        </p:spPr>
      </p:pic>
      <p:sp>
        <p:nvSpPr>
          <p:cNvPr id="19" name="Text 14"/>
          <p:cNvSpPr/>
          <p:nvPr/>
        </p:nvSpPr>
        <p:spPr>
          <a:xfrm>
            <a:off x="8485632" y="2834640"/>
            <a:ext cx="3017520" cy="685800"/>
          </a:xfrm>
          <a:prstGeom prst="rect">
            <a:avLst/>
          </a:prstGeom>
          <a:noFill/>
          <a:ln/>
        </p:spPr>
        <p:txBody>
          <a:bodyPr wrap="square" lIns="0" tIns="0" rIns="0" bIns="0" rtlCol="0" anchor="ctr"/>
          <a:lstStyle/>
          <a:p>
            <a:pPr indent="0" marL="0">
              <a:buNone/>
            </a:pPr>
            <a:r>
              <a:rPr lang="en-US" sz="1650" b="1" dirty="0">
                <a:solidFill>
                  <a:srgbClr val="1C2B25"/>
                </a:solidFill>
                <a:latin typeface="Calibri" pitchFamily="34" charset="0"/>
                <a:ea typeface="Calibri" pitchFamily="34" charset="-122"/>
                <a:cs typeface="Calibri" pitchFamily="34" charset="-120"/>
              </a:rPr>
              <a:t>3. Commission Azure embeddings</a:t>
            </a:r>
            <a:endParaRPr lang="en-US" sz="1650" dirty="0"/>
          </a:p>
        </p:txBody>
      </p:sp>
      <p:sp>
        <p:nvSpPr>
          <p:cNvPr id="20" name="Text 15"/>
          <p:cNvSpPr/>
          <p:nvPr/>
        </p:nvSpPr>
        <p:spPr>
          <a:xfrm>
            <a:off x="8485632" y="3520440"/>
            <a:ext cx="3017520" cy="1143000"/>
          </a:xfrm>
          <a:prstGeom prst="rect">
            <a:avLst/>
          </a:prstGeom>
          <a:noFill/>
          <a:ln/>
        </p:spPr>
        <p:txBody>
          <a:bodyPr wrap="square" lIns="0" tIns="0" rIns="0" bIns="0" rtlCol="0" anchor="ctr"/>
          <a:lstStyle/>
          <a:p>
            <a:pPr indent="0" marL="0">
              <a:buNone/>
            </a:pPr>
            <a:r>
              <a:rPr lang="en-US" sz="1300" dirty="0">
                <a:solidFill>
                  <a:srgbClr val="5E6E66"/>
                </a:solidFill>
                <a:latin typeface="Calibri" pitchFamily="34" charset="0"/>
                <a:ea typeface="Calibri" pitchFamily="34" charset="-122"/>
                <a:cs typeface="Calibri" pitchFamily="34" charset="-120"/>
              </a:rPr>
              <a:t>One in-tenant embeddings deployment closes the data-sovereignty gap end to end; the code already supports it.</a:t>
            </a:r>
            <a:endParaRPr lang="en-US" sz="1300" dirty="0"/>
          </a:p>
        </p:txBody>
      </p:sp>
      <p:sp>
        <p:nvSpPr>
          <p:cNvPr id="21" name="Text 16"/>
          <p:cNvSpPr/>
          <p:nvPr/>
        </p:nvSpPr>
        <p:spPr>
          <a:xfrm>
            <a:off x="8485632" y="4663440"/>
            <a:ext cx="3017520" cy="548640"/>
          </a:xfrm>
          <a:prstGeom prst="rect">
            <a:avLst/>
          </a:prstGeom>
          <a:noFill/>
          <a:ln/>
        </p:spPr>
        <p:txBody>
          <a:bodyPr wrap="square" lIns="0" tIns="0" rIns="0" bIns="0" rtlCol="0" anchor="ctr"/>
          <a:lstStyle/>
          <a:p>
            <a:pPr indent="0" marL="0">
              <a:buNone/>
            </a:pPr>
            <a:r>
              <a:rPr lang="en-US" sz="1150" i="1" dirty="0">
                <a:solidFill>
                  <a:srgbClr val="02714E"/>
                </a:solidFill>
                <a:latin typeface="Calibri" pitchFamily="34" charset="0"/>
                <a:ea typeface="Calibri" pitchFamily="34" charset="-122"/>
                <a:cs typeface="Calibri" pitchFamily="34" charset="-120"/>
              </a:rPr>
              <a:t>Cost: configuration, not engineering.</a:t>
            </a:r>
            <a:endParaRPr lang="en-US" sz="1150" dirty="0"/>
          </a:p>
        </p:txBody>
      </p:sp>
      <p:sp>
        <p:nvSpPr>
          <p:cNvPr id="22" name="Text 17"/>
          <p:cNvSpPr/>
          <p:nvPr/>
        </p:nvSpPr>
        <p:spPr>
          <a:xfrm>
            <a:off x="548640" y="5623560"/>
            <a:ext cx="11064240" cy="365760"/>
          </a:xfrm>
          <a:prstGeom prst="rect">
            <a:avLst/>
          </a:prstGeom>
          <a:noFill/>
          <a:ln/>
        </p:spPr>
        <p:txBody>
          <a:bodyPr wrap="square" lIns="0" tIns="0" rIns="0" bIns="0" rtlCol="0" anchor="ctr"/>
          <a:lstStyle/>
          <a:p>
            <a:pPr indent="0" marL="0">
              <a:buNone/>
            </a:pPr>
            <a:r>
              <a:rPr lang="en-US" sz="1400" i="1" dirty="0">
                <a:solidFill>
                  <a:srgbClr val="5E6E66"/>
                </a:solidFill>
                <a:latin typeface="Calibri" pitchFamily="34" charset="0"/>
                <a:ea typeface="Calibri" pitchFamily="34" charset="-122"/>
                <a:cs typeface="Calibri" pitchFamily="34" charset="-120"/>
              </a:rPr>
              <a:t>Each is reversible, near-zero cost, and required by every later phase.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13023"/>
        </a:solidFill>
      </p:bgPr>
    </p:bg>
    <p:spTree>
      <p:nvGrpSpPr>
        <p:cNvPr id="1" name=""/>
        <p:cNvGrpSpPr/>
        <p:nvPr/>
      </p:nvGrpSpPr>
      <p:grpSpPr>
        <a:xfrm>
          <a:off x="0" y="0"/>
          <a:ext cx="0" cy="0"/>
          <a:chOff x="0" y="0"/>
          <a:chExt cx="0" cy="0"/>
        </a:xfrm>
      </p:grpSpPr>
      <p:sp>
        <p:nvSpPr>
          <p:cNvPr id="2" name="Shape 0"/>
          <p:cNvSpPr/>
          <p:nvPr/>
        </p:nvSpPr>
        <p:spPr>
          <a:xfrm>
            <a:off x="-2011680" y="3291840"/>
            <a:ext cx="6035040" cy="6035040"/>
          </a:xfrm>
          <a:prstGeom prst="ellipse">
            <a:avLst/>
          </a:prstGeom>
          <a:solidFill>
            <a:srgbClr val="02714E">
              <a:alpha val="25000"/>
            </a:srgbClr>
          </a:solidFill>
          <a:ln/>
        </p:spPr>
      </p:sp>
      <p:sp>
        <p:nvSpPr>
          <p:cNvPr id="3" name="Text 1"/>
          <p:cNvSpPr/>
          <p:nvPr/>
        </p:nvSpPr>
        <p:spPr>
          <a:xfrm>
            <a:off x="548640" y="384048"/>
            <a:ext cx="11064240" cy="274320"/>
          </a:xfrm>
          <a:prstGeom prst="rect">
            <a:avLst/>
          </a:prstGeom>
          <a:noFill/>
          <a:ln/>
        </p:spPr>
        <p:txBody>
          <a:bodyPr wrap="square" lIns="0" tIns="0" rIns="0" bIns="0" rtlCol="0" anchor="ctr"/>
          <a:lstStyle/>
          <a:p>
            <a:pPr indent="0" marL="0">
              <a:buNone/>
            </a:pPr>
            <a:r>
              <a:rPr lang="en-US" sz="1200" b="1" spc="200" kern="0" dirty="0">
                <a:solidFill>
                  <a:srgbClr val="C9A227"/>
                </a:solidFill>
                <a:latin typeface="Calibri" pitchFamily="34" charset="0"/>
                <a:ea typeface="Calibri" pitchFamily="34" charset="-122"/>
                <a:cs typeface="Calibri" pitchFamily="34" charset="-120"/>
              </a:rPr>
              <a:t>THE CLAIM LADDER</a:t>
            </a:r>
            <a:endParaRPr lang="en-US" sz="1200" dirty="0"/>
          </a:p>
        </p:txBody>
      </p:sp>
      <p:sp>
        <p:nvSpPr>
          <p:cNvPr id="4" name="Text 2"/>
          <p:cNvSpPr/>
          <p:nvPr/>
        </p:nvSpPr>
        <p:spPr>
          <a:xfrm>
            <a:off x="548640" y="640080"/>
            <a:ext cx="1106424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Say only what survives scrutiny</a:t>
            </a:r>
            <a:endParaRPr lang="en-US" sz="3200" dirty="0"/>
          </a:p>
        </p:txBody>
      </p:sp>
      <p:sp>
        <p:nvSpPr>
          <p:cNvPr id="5" name="Shape 3"/>
          <p:cNvSpPr/>
          <p:nvPr/>
        </p:nvSpPr>
        <p:spPr>
          <a:xfrm>
            <a:off x="640080" y="1691640"/>
            <a:ext cx="310896" cy="310896"/>
          </a:xfrm>
          <a:prstGeom prst="ellipse">
            <a:avLst/>
          </a:prstGeom>
          <a:solidFill>
            <a:srgbClr val="02714E"/>
          </a:solidFill>
          <a:ln/>
        </p:spPr>
      </p:sp>
      <p:sp>
        <p:nvSpPr>
          <p:cNvPr id="6" name="Text 4"/>
          <p:cNvSpPr/>
          <p:nvPr/>
        </p:nvSpPr>
        <p:spPr>
          <a:xfrm>
            <a:off x="1188720" y="1645920"/>
            <a:ext cx="3017520" cy="411480"/>
          </a:xfrm>
          <a:prstGeom prst="rect">
            <a:avLst/>
          </a:prstGeom>
          <a:noFill/>
          <a:ln/>
        </p:spPr>
        <p:txBody>
          <a:bodyPr wrap="square" lIns="0" tIns="0" rIns="0" bIns="0" rtlCol="0" anchor="ctr"/>
          <a:lstStyle/>
          <a:p>
            <a:pPr indent="0" marL="0">
              <a:buNone/>
            </a:pPr>
            <a:r>
              <a:rPr lang="en-US" sz="1400" b="1" dirty="0">
                <a:solidFill>
                  <a:srgbClr val="9DBBAD"/>
                </a:solidFill>
                <a:latin typeface="Calibri" pitchFamily="34" charset="0"/>
                <a:ea typeface="Calibri" pitchFamily="34" charset="-122"/>
                <a:cs typeface="Calibri" pitchFamily="34" charset="-120"/>
              </a:rPr>
              <a:t>Today</a:t>
            </a:r>
            <a:endParaRPr lang="en-US" sz="1400" dirty="0"/>
          </a:p>
        </p:txBody>
      </p:sp>
      <p:sp>
        <p:nvSpPr>
          <p:cNvPr id="7" name="Text 5"/>
          <p:cNvSpPr/>
          <p:nvPr/>
        </p:nvSpPr>
        <p:spPr>
          <a:xfrm>
            <a:off x="4343400" y="1645920"/>
            <a:ext cx="7315200" cy="411480"/>
          </a:xfrm>
          <a:prstGeom prst="rect">
            <a:avLst/>
          </a:prstGeom>
          <a:noFill/>
          <a:ln/>
        </p:spPr>
        <p:txBody>
          <a:bodyPr wrap="square" lIns="0" tIns="0" rIns="0" bIns="0" rtlCol="0" anchor="ctr"/>
          <a:lstStyle/>
          <a:p>
            <a:pPr indent="0" marL="0">
              <a:buNone/>
            </a:pPr>
            <a:r>
              <a:rPr lang="en-US" sz="1450" i="1" dirty="0">
                <a:solidFill>
                  <a:srgbClr val="FFFFFF"/>
                </a:solidFill>
                <a:latin typeface="Calibri" pitchFamily="34" charset="0"/>
                <a:ea typeface="Calibri" pitchFamily="34" charset="-122"/>
                <a:cs typeface="Calibri" pitchFamily="34" charset="-120"/>
              </a:rPr>
              <a:t>Independently verified, human-in-the-loop, validated at pilot scale</a:t>
            </a:r>
            <a:endParaRPr lang="en-US" sz="1450" dirty="0"/>
          </a:p>
        </p:txBody>
      </p:sp>
      <p:sp>
        <p:nvSpPr>
          <p:cNvPr id="8" name="Shape 6"/>
          <p:cNvSpPr/>
          <p:nvPr/>
        </p:nvSpPr>
        <p:spPr>
          <a:xfrm>
            <a:off x="795528" y="2029968"/>
            <a:ext cx="0" cy="502920"/>
          </a:xfrm>
          <a:prstGeom prst="line">
            <a:avLst/>
          </a:prstGeom>
          <a:noFill/>
          <a:ln w="19050">
            <a:solidFill>
              <a:srgbClr val="2E5A48"/>
            </a:solidFill>
            <a:prstDash val="solid"/>
          </a:ln>
        </p:spPr>
      </p:sp>
      <p:sp>
        <p:nvSpPr>
          <p:cNvPr id="9" name="Shape 7"/>
          <p:cNvSpPr/>
          <p:nvPr/>
        </p:nvSpPr>
        <p:spPr>
          <a:xfrm>
            <a:off x="640080" y="2560320"/>
            <a:ext cx="310896" cy="310896"/>
          </a:xfrm>
          <a:prstGeom prst="ellipse">
            <a:avLst/>
          </a:prstGeom>
          <a:solidFill>
            <a:srgbClr val="02714E"/>
          </a:solidFill>
          <a:ln/>
        </p:spPr>
      </p:sp>
      <p:sp>
        <p:nvSpPr>
          <p:cNvPr id="10" name="Text 8"/>
          <p:cNvSpPr/>
          <p:nvPr/>
        </p:nvSpPr>
        <p:spPr>
          <a:xfrm>
            <a:off x="1188720" y="2514600"/>
            <a:ext cx="3017520" cy="411480"/>
          </a:xfrm>
          <a:prstGeom prst="rect">
            <a:avLst/>
          </a:prstGeom>
          <a:noFill/>
          <a:ln/>
        </p:spPr>
        <p:txBody>
          <a:bodyPr wrap="square" lIns="0" tIns="0" rIns="0" bIns="0" rtlCol="0" anchor="ctr"/>
          <a:lstStyle/>
          <a:p>
            <a:pPr indent="0" marL="0">
              <a:buNone/>
            </a:pPr>
            <a:r>
              <a:rPr lang="en-US" sz="1400" b="1" dirty="0">
                <a:solidFill>
                  <a:srgbClr val="9DBBAD"/>
                </a:solidFill>
                <a:latin typeface="Calibri" pitchFamily="34" charset="0"/>
                <a:ea typeface="Calibri" pitchFamily="34" charset="-122"/>
                <a:cs typeface="Calibri" pitchFamily="34" charset="-120"/>
              </a:rPr>
              <a:t>After shadow validation</a:t>
            </a:r>
            <a:endParaRPr lang="en-US" sz="1400" dirty="0"/>
          </a:p>
        </p:txBody>
      </p:sp>
      <p:sp>
        <p:nvSpPr>
          <p:cNvPr id="11" name="Text 9"/>
          <p:cNvSpPr/>
          <p:nvPr/>
        </p:nvSpPr>
        <p:spPr>
          <a:xfrm>
            <a:off x="4343400" y="2514600"/>
            <a:ext cx="7315200" cy="411480"/>
          </a:xfrm>
          <a:prstGeom prst="rect">
            <a:avLst/>
          </a:prstGeom>
          <a:noFill/>
          <a:ln/>
        </p:spPr>
        <p:txBody>
          <a:bodyPr wrap="square" lIns="0" tIns="0" rIns="0" bIns="0" rtlCol="0" anchor="ctr"/>
          <a:lstStyle/>
          <a:p>
            <a:pPr indent="0" marL="0">
              <a:buNone/>
            </a:pPr>
            <a:r>
              <a:rPr lang="en-US" sz="1450" i="1" dirty="0">
                <a:solidFill>
                  <a:srgbClr val="FFFFFF"/>
                </a:solidFill>
                <a:latin typeface="Calibri" pitchFamily="34" charset="0"/>
                <a:ea typeface="Calibri" pitchFamily="34" charset="-122"/>
                <a:cs typeface="Calibri" pitchFamily="34" charset="-120"/>
              </a:rPr>
              <a:t>...with measured precision against real analyst decisions</a:t>
            </a:r>
            <a:endParaRPr lang="en-US" sz="1450" dirty="0"/>
          </a:p>
        </p:txBody>
      </p:sp>
      <p:sp>
        <p:nvSpPr>
          <p:cNvPr id="12" name="Shape 10"/>
          <p:cNvSpPr/>
          <p:nvPr/>
        </p:nvSpPr>
        <p:spPr>
          <a:xfrm>
            <a:off x="795528" y="2898648"/>
            <a:ext cx="0" cy="502920"/>
          </a:xfrm>
          <a:prstGeom prst="line">
            <a:avLst/>
          </a:prstGeom>
          <a:noFill/>
          <a:ln w="19050">
            <a:solidFill>
              <a:srgbClr val="2E5A48"/>
            </a:solidFill>
            <a:prstDash val="solid"/>
          </a:ln>
        </p:spPr>
      </p:sp>
      <p:sp>
        <p:nvSpPr>
          <p:cNvPr id="13" name="Shape 11"/>
          <p:cNvSpPr/>
          <p:nvPr/>
        </p:nvSpPr>
        <p:spPr>
          <a:xfrm>
            <a:off x="640080" y="3429000"/>
            <a:ext cx="310896" cy="310896"/>
          </a:xfrm>
          <a:prstGeom prst="ellipse">
            <a:avLst/>
          </a:prstGeom>
          <a:solidFill>
            <a:srgbClr val="02714E"/>
          </a:solidFill>
          <a:ln/>
        </p:spPr>
      </p:sp>
      <p:sp>
        <p:nvSpPr>
          <p:cNvPr id="14" name="Text 12"/>
          <p:cNvSpPr/>
          <p:nvPr/>
        </p:nvSpPr>
        <p:spPr>
          <a:xfrm>
            <a:off x="1188720" y="3383280"/>
            <a:ext cx="3017520" cy="411480"/>
          </a:xfrm>
          <a:prstGeom prst="rect">
            <a:avLst/>
          </a:prstGeom>
          <a:noFill/>
          <a:ln/>
        </p:spPr>
        <p:txBody>
          <a:bodyPr wrap="square" lIns="0" tIns="0" rIns="0" bIns="0" rtlCol="0" anchor="ctr"/>
          <a:lstStyle/>
          <a:p>
            <a:pPr indent="0" marL="0">
              <a:buNone/>
            </a:pPr>
            <a:r>
              <a:rPr lang="en-US" sz="1400" b="1" dirty="0">
                <a:solidFill>
                  <a:srgbClr val="9DBBAD"/>
                </a:solidFill>
                <a:latin typeface="Calibri" pitchFamily="34" charset="0"/>
                <a:ea typeface="Calibri" pitchFamily="34" charset="-122"/>
                <a:cs typeface="Calibri" pitchFamily="34" charset="-120"/>
              </a:rPr>
              <a:t>After sovereignty work</a:t>
            </a:r>
            <a:endParaRPr lang="en-US" sz="1400" dirty="0"/>
          </a:p>
        </p:txBody>
      </p:sp>
      <p:sp>
        <p:nvSpPr>
          <p:cNvPr id="15" name="Text 13"/>
          <p:cNvSpPr/>
          <p:nvPr/>
        </p:nvSpPr>
        <p:spPr>
          <a:xfrm>
            <a:off x="4343400" y="3383280"/>
            <a:ext cx="7315200" cy="411480"/>
          </a:xfrm>
          <a:prstGeom prst="rect">
            <a:avLst/>
          </a:prstGeom>
          <a:noFill/>
          <a:ln/>
        </p:spPr>
        <p:txBody>
          <a:bodyPr wrap="square" lIns="0" tIns="0" rIns="0" bIns="0" rtlCol="0" anchor="ctr"/>
          <a:lstStyle/>
          <a:p>
            <a:pPr indent="0" marL="0">
              <a:buNone/>
            </a:pPr>
            <a:r>
              <a:rPr lang="en-US" sz="1450" i="1" dirty="0">
                <a:solidFill>
                  <a:srgbClr val="FFFFFF"/>
                </a:solidFill>
                <a:latin typeface="Calibri" pitchFamily="34" charset="0"/>
                <a:ea typeface="Calibri" pitchFamily="34" charset="-122"/>
                <a:cs typeface="Calibri" pitchFamily="34" charset="-120"/>
              </a:rPr>
              <a:t>...running fully in-tenant under national data regulations</a:t>
            </a:r>
            <a:endParaRPr lang="en-US" sz="1450" dirty="0"/>
          </a:p>
        </p:txBody>
      </p:sp>
      <p:sp>
        <p:nvSpPr>
          <p:cNvPr id="16" name="Shape 14"/>
          <p:cNvSpPr/>
          <p:nvPr/>
        </p:nvSpPr>
        <p:spPr>
          <a:xfrm>
            <a:off x="795528" y="3767328"/>
            <a:ext cx="0" cy="502920"/>
          </a:xfrm>
          <a:prstGeom prst="line">
            <a:avLst/>
          </a:prstGeom>
          <a:noFill/>
          <a:ln w="19050">
            <a:solidFill>
              <a:srgbClr val="2E5A48"/>
            </a:solidFill>
            <a:prstDash val="solid"/>
          </a:ln>
        </p:spPr>
      </p:sp>
      <p:sp>
        <p:nvSpPr>
          <p:cNvPr id="17" name="Shape 15"/>
          <p:cNvSpPr/>
          <p:nvPr/>
        </p:nvSpPr>
        <p:spPr>
          <a:xfrm>
            <a:off x="640080" y="4297680"/>
            <a:ext cx="310896" cy="310896"/>
          </a:xfrm>
          <a:prstGeom prst="ellipse">
            <a:avLst/>
          </a:prstGeom>
          <a:solidFill>
            <a:srgbClr val="02714E"/>
          </a:solidFill>
          <a:ln/>
        </p:spPr>
      </p:sp>
      <p:sp>
        <p:nvSpPr>
          <p:cNvPr id="18" name="Text 16"/>
          <p:cNvSpPr/>
          <p:nvPr/>
        </p:nvSpPr>
        <p:spPr>
          <a:xfrm>
            <a:off x="1188720" y="4251960"/>
            <a:ext cx="3017520" cy="411480"/>
          </a:xfrm>
          <a:prstGeom prst="rect">
            <a:avLst/>
          </a:prstGeom>
          <a:noFill/>
          <a:ln/>
        </p:spPr>
        <p:txBody>
          <a:bodyPr wrap="square" lIns="0" tIns="0" rIns="0" bIns="0" rtlCol="0" anchor="ctr"/>
          <a:lstStyle/>
          <a:p>
            <a:pPr indent="0" marL="0">
              <a:buNone/>
            </a:pPr>
            <a:r>
              <a:rPr lang="en-US" sz="1400" b="1" dirty="0">
                <a:solidFill>
                  <a:srgbClr val="9DBBAD"/>
                </a:solidFill>
                <a:latin typeface="Calibri" pitchFamily="34" charset="0"/>
                <a:ea typeface="Calibri" pitchFamily="34" charset="-122"/>
                <a:cs typeface="Calibri" pitchFamily="34" charset="-120"/>
              </a:rPr>
              <a:t>After governed beta</a:t>
            </a:r>
            <a:endParaRPr lang="en-US" sz="1400" dirty="0"/>
          </a:p>
        </p:txBody>
      </p:sp>
      <p:sp>
        <p:nvSpPr>
          <p:cNvPr id="19" name="Text 17"/>
          <p:cNvSpPr/>
          <p:nvPr/>
        </p:nvSpPr>
        <p:spPr>
          <a:xfrm>
            <a:off x="4343400" y="4251960"/>
            <a:ext cx="7315200" cy="411480"/>
          </a:xfrm>
          <a:prstGeom prst="rect">
            <a:avLst/>
          </a:prstGeom>
          <a:noFill/>
          <a:ln/>
        </p:spPr>
        <p:txBody>
          <a:bodyPr wrap="square" lIns="0" tIns="0" rIns="0" bIns="0" rtlCol="0" anchor="ctr"/>
          <a:lstStyle/>
          <a:p>
            <a:pPr indent="0" marL="0">
              <a:buNone/>
            </a:pPr>
            <a:r>
              <a:rPr lang="en-US" sz="1450" i="1" dirty="0">
                <a:solidFill>
                  <a:srgbClr val="FFFFFF"/>
                </a:solidFill>
                <a:latin typeface="Calibri" pitchFamily="34" charset="0"/>
                <a:ea typeface="Calibri" pitchFamily="34" charset="-122"/>
                <a:cs typeface="Calibri" pitchFamily="34" charset="-120"/>
              </a:rPr>
              <a:t>...operating with correction and appeal processes</a:t>
            </a:r>
            <a:endParaRPr lang="en-US" sz="1450" dirty="0"/>
          </a:p>
        </p:txBody>
      </p:sp>
      <p:sp>
        <p:nvSpPr>
          <p:cNvPr id="20" name="Shape 18"/>
          <p:cNvSpPr/>
          <p:nvPr/>
        </p:nvSpPr>
        <p:spPr>
          <a:xfrm>
            <a:off x="795528" y="4636008"/>
            <a:ext cx="0" cy="502920"/>
          </a:xfrm>
          <a:prstGeom prst="line">
            <a:avLst/>
          </a:prstGeom>
          <a:noFill/>
          <a:ln w="19050">
            <a:solidFill>
              <a:srgbClr val="2E5A48"/>
            </a:solidFill>
            <a:prstDash val="solid"/>
          </a:ln>
        </p:spPr>
      </p:sp>
      <p:sp>
        <p:nvSpPr>
          <p:cNvPr id="21" name="Shape 19"/>
          <p:cNvSpPr/>
          <p:nvPr/>
        </p:nvSpPr>
        <p:spPr>
          <a:xfrm>
            <a:off x="640080" y="5166360"/>
            <a:ext cx="310896" cy="310896"/>
          </a:xfrm>
          <a:prstGeom prst="ellipse">
            <a:avLst/>
          </a:prstGeom>
          <a:solidFill>
            <a:srgbClr val="C9A227"/>
          </a:solidFill>
          <a:ln/>
        </p:spPr>
      </p:sp>
      <p:sp>
        <p:nvSpPr>
          <p:cNvPr id="22" name="Text 20"/>
          <p:cNvSpPr/>
          <p:nvPr/>
        </p:nvSpPr>
        <p:spPr>
          <a:xfrm>
            <a:off x="1188720" y="5120640"/>
            <a:ext cx="3017520" cy="411480"/>
          </a:xfrm>
          <a:prstGeom prst="rect">
            <a:avLst/>
          </a:prstGeom>
          <a:noFill/>
          <a:ln/>
        </p:spPr>
        <p:txBody>
          <a:bodyPr wrap="square" lIns="0" tIns="0" rIns="0" bIns="0" rtlCol="0" anchor="ctr"/>
          <a:lstStyle/>
          <a:p>
            <a:pPr indent="0" marL="0">
              <a:buNone/>
            </a:pPr>
            <a:r>
              <a:rPr lang="en-US" sz="1400" b="1" dirty="0">
                <a:solidFill>
                  <a:srgbClr val="C9A227"/>
                </a:solidFill>
                <a:latin typeface="Calibri" pitchFamily="34" charset="0"/>
                <a:ea typeface="Calibri" pitchFamily="34" charset="-122"/>
                <a:cs typeface="Calibri" pitchFamily="34" charset="-120"/>
              </a:rPr>
              <a:t>Then, and only then</a:t>
            </a:r>
            <a:endParaRPr lang="en-US" sz="1400" dirty="0"/>
          </a:p>
        </p:txBody>
      </p:sp>
      <p:sp>
        <p:nvSpPr>
          <p:cNvPr id="23" name="Text 21"/>
          <p:cNvSpPr/>
          <p:nvPr/>
        </p:nvSpPr>
        <p:spPr>
          <a:xfrm>
            <a:off x="4343400" y="5120640"/>
            <a:ext cx="731520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A national investment-matching platform</a:t>
            </a:r>
            <a:endParaRPr lang="en-US" sz="1700" dirty="0"/>
          </a:p>
        </p:txBody>
      </p:sp>
      <p:sp>
        <p:nvSpPr>
          <p:cNvPr id="24" name="Text 22"/>
          <p:cNvSpPr/>
          <p:nvPr/>
        </p:nvSpPr>
        <p:spPr>
          <a:xfrm>
            <a:off x="640080" y="6080760"/>
            <a:ext cx="10972800" cy="411480"/>
          </a:xfrm>
          <a:prstGeom prst="rect">
            <a:avLst/>
          </a:prstGeom>
          <a:noFill/>
          <a:ln/>
        </p:spPr>
        <p:txBody>
          <a:bodyPr wrap="square" lIns="0" tIns="0" rIns="0" bIns="0" rtlCol="0" anchor="ctr"/>
          <a:lstStyle/>
          <a:p>
            <a:pPr indent="0" marL="0">
              <a:buNone/>
            </a:pPr>
            <a:r>
              <a:rPr lang="en-US" sz="1500" b="1" dirty="0">
                <a:solidFill>
                  <a:srgbClr val="C9A227"/>
                </a:solidFill>
                <a:latin typeface="Calibri" pitchFamily="34" charset="0"/>
                <a:ea typeface="Calibri" pitchFamily="34" charset="-122"/>
                <a:cs typeface="Calibri" pitchFamily="34" charset="-120"/>
              </a:rPr>
              <a:t>Decision requested: approve Phase 0 and Phase 1, and commission the Azure embeddings deployment.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2026-07-21T14:39:13Z</dcterms:created>
  <dcterms:modified xsi:type="dcterms:W3CDTF">2026-07-21T14:39:13Z</dcterms:modified>
</cp:coreProperties>
</file>